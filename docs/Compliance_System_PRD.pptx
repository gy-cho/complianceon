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564" y="-25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3" d="100"/>
          <a:sy n="73" d="100"/>
        </p:scale>
        <p:origin x="397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EC2F44C3-6F2A-4E7F-A93E-A2B2325C8F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1DDFFC5-0A00-4C4B-819D-FCB2E68DAC5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7990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5926D-D045-4613-801C-EFD691F2462C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4D3DF1C-169A-4C68-8E6B-68364BADA4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DB32E5-0C7B-42EC-A683-04D0B8BAF0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7990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EAA128-0E66-4053-A00C-418981470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50440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27990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CBD0B-3A68-4F5A-91F3-83AC874FD5BD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03488" y="1336675"/>
            <a:ext cx="25495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27990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2B7245-8A6F-46D3-959F-3DEADB739F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9262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21212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A0A0A0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pc="-114" dirty="0"/>
              <a:t>KB</a:t>
            </a:r>
            <a:r>
              <a:rPr spc="-25" dirty="0"/>
              <a:t> </a:t>
            </a:r>
            <a:r>
              <a:rPr spc="-55" dirty="0"/>
              <a:t>Financial</a:t>
            </a:r>
            <a:r>
              <a:rPr spc="-25" dirty="0"/>
              <a:t> </a:t>
            </a:r>
            <a:r>
              <a:rPr spc="-45" dirty="0"/>
              <a:t>Group</a:t>
            </a:r>
            <a:r>
              <a:rPr spc="-25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60" dirty="0"/>
              <a:t>Compliance</a:t>
            </a:r>
            <a:r>
              <a:rPr spc="-25" dirty="0"/>
              <a:t> </a:t>
            </a:r>
            <a:r>
              <a:rPr spc="-55" dirty="0"/>
              <a:t>Security</a:t>
            </a:r>
            <a:r>
              <a:rPr spc="-25" dirty="0"/>
              <a:t> </a:t>
            </a:r>
            <a:r>
              <a:rPr spc="-30" dirty="0"/>
              <a:t>Project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16199" y="796200"/>
            <a:ext cx="6327775" cy="76200"/>
          </a:xfrm>
          <a:custGeom>
            <a:avLst/>
            <a:gdLst/>
            <a:ahLst/>
            <a:cxnLst/>
            <a:rect l="l" t="t" r="r" b="b"/>
            <a:pathLst>
              <a:path w="6327775" h="76200">
                <a:moveTo>
                  <a:pt x="6327600" y="76200"/>
                </a:moveTo>
                <a:lnTo>
                  <a:pt x="0" y="76200"/>
                </a:lnTo>
                <a:lnTo>
                  <a:pt x="0" y="0"/>
                </a:lnTo>
                <a:lnTo>
                  <a:pt x="6327600" y="0"/>
                </a:lnTo>
                <a:lnTo>
                  <a:pt x="6327600" y="76200"/>
                </a:lnTo>
                <a:close/>
              </a:path>
            </a:pathLst>
          </a:custGeom>
          <a:solidFill>
            <a:srgbClr val="004B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21212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A0A0A0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pc="-114" dirty="0"/>
              <a:t>KB</a:t>
            </a:r>
            <a:r>
              <a:rPr spc="-25" dirty="0"/>
              <a:t> </a:t>
            </a:r>
            <a:r>
              <a:rPr spc="-55" dirty="0"/>
              <a:t>Financial</a:t>
            </a:r>
            <a:r>
              <a:rPr spc="-25" dirty="0"/>
              <a:t> </a:t>
            </a:r>
            <a:r>
              <a:rPr spc="-45" dirty="0"/>
              <a:t>Group</a:t>
            </a:r>
            <a:r>
              <a:rPr spc="-25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60" dirty="0"/>
              <a:t>Compliance</a:t>
            </a:r>
            <a:r>
              <a:rPr spc="-25" dirty="0"/>
              <a:t> </a:t>
            </a:r>
            <a:r>
              <a:rPr spc="-55" dirty="0"/>
              <a:t>Security</a:t>
            </a:r>
            <a:r>
              <a:rPr spc="-25" dirty="0"/>
              <a:t> </a:t>
            </a:r>
            <a:r>
              <a:rPr spc="-30" dirty="0"/>
              <a:t>Project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21212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A0A0A0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pc="-114" dirty="0"/>
              <a:t>KB</a:t>
            </a:r>
            <a:r>
              <a:rPr spc="-25" dirty="0"/>
              <a:t> </a:t>
            </a:r>
            <a:r>
              <a:rPr spc="-55" dirty="0"/>
              <a:t>Financial</a:t>
            </a:r>
            <a:r>
              <a:rPr spc="-25" dirty="0"/>
              <a:t> </a:t>
            </a:r>
            <a:r>
              <a:rPr spc="-45" dirty="0"/>
              <a:t>Group</a:t>
            </a:r>
            <a:r>
              <a:rPr spc="-25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60" dirty="0"/>
              <a:t>Compliance</a:t>
            </a:r>
            <a:r>
              <a:rPr spc="-25" dirty="0"/>
              <a:t> </a:t>
            </a:r>
            <a:r>
              <a:rPr spc="-55" dirty="0"/>
              <a:t>Security</a:t>
            </a:r>
            <a:r>
              <a:rPr spc="-25" dirty="0"/>
              <a:t> </a:t>
            </a:r>
            <a:r>
              <a:rPr spc="-30" dirty="0"/>
              <a:t>Project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21212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A0A0A0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pc="-114" dirty="0"/>
              <a:t>KB</a:t>
            </a:r>
            <a:r>
              <a:rPr spc="-25" dirty="0"/>
              <a:t> </a:t>
            </a:r>
            <a:r>
              <a:rPr spc="-55" dirty="0"/>
              <a:t>Financial</a:t>
            </a:r>
            <a:r>
              <a:rPr spc="-25" dirty="0"/>
              <a:t> </a:t>
            </a:r>
            <a:r>
              <a:rPr spc="-45" dirty="0"/>
              <a:t>Group</a:t>
            </a:r>
            <a:r>
              <a:rPr spc="-25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60" dirty="0"/>
              <a:t>Compliance</a:t>
            </a:r>
            <a:r>
              <a:rPr spc="-25" dirty="0"/>
              <a:t> </a:t>
            </a:r>
            <a:r>
              <a:rPr spc="-55" dirty="0"/>
              <a:t>Security</a:t>
            </a:r>
            <a:r>
              <a:rPr spc="-25" dirty="0"/>
              <a:t> </a:t>
            </a:r>
            <a:r>
              <a:rPr spc="-30" dirty="0"/>
              <a:t>Project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A0A0A0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pc="-114" dirty="0"/>
              <a:t>KB</a:t>
            </a:r>
            <a:r>
              <a:rPr spc="-25" dirty="0"/>
              <a:t> </a:t>
            </a:r>
            <a:r>
              <a:rPr spc="-55" dirty="0"/>
              <a:t>Financial</a:t>
            </a:r>
            <a:r>
              <a:rPr spc="-25" dirty="0"/>
              <a:t> </a:t>
            </a:r>
            <a:r>
              <a:rPr spc="-45" dirty="0"/>
              <a:t>Group</a:t>
            </a:r>
            <a:r>
              <a:rPr spc="-25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60" dirty="0"/>
              <a:t>Compliance</a:t>
            </a:r>
            <a:r>
              <a:rPr spc="-25" dirty="0"/>
              <a:t> </a:t>
            </a:r>
            <a:r>
              <a:rPr spc="-55" dirty="0"/>
              <a:t>Security</a:t>
            </a:r>
            <a:r>
              <a:rPr spc="-25" dirty="0"/>
              <a:t> </a:t>
            </a:r>
            <a:r>
              <a:rPr spc="-30" dirty="0"/>
              <a:t>Project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3499" y="2294725"/>
            <a:ext cx="4258945" cy="949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21212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27299" y="10252557"/>
            <a:ext cx="2487930" cy="163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A0A0A0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pc="-114" dirty="0"/>
              <a:t>KB</a:t>
            </a:r>
            <a:r>
              <a:rPr spc="-25" dirty="0"/>
              <a:t> </a:t>
            </a:r>
            <a:r>
              <a:rPr spc="-55" dirty="0"/>
              <a:t>Financial</a:t>
            </a:r>
            <a:r>
              <a:rPr spc="-25" dirty="0"/>
              <a:t> </a:t>
            </a:r>
            <a:r>
              <a:rPr spc="-45" dirty="0"/>
              <a:t>Group</a:t>
            </a:r>
            <a:r>
              <a:rPr spc="-25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60" dirty="0"/>
              <a:t>Compliance</a:t>
            </a:r>
            <a:r>
              <a:rPr spc="-25" dirty="0"/>
              <a:t> </a:t>
            </a:r>
            <a:r>
              <a:rPr spc="-55" dirty="0"/>
              <a:t>Security</a:t>
            </a:r>
            <a:r>
              <a:rPr spc="-25" dirty="0"/>
              <a:t> </a:t>
            </a:r>
            <a:r>
              <a:rPr spc="-30" dirty="0"/>
              <a:t>Project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3499" y="2294725"/>
            <a:ext cx="4258945" cy="9055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300"/>
              </a:lnSpc>
              <a:spcBef>
                <a:spcPts val="100"/>
              </a:spcBef>
            </a:pPr>
            <a:r>
              <a:rPr spc="-229" dirty="0"/>
              <a:t>사내</a:t>
            </a:r>
            <a:r>
              <a:rPr spc="-195" dirty="0"/>
              <a:t> </a:t>
            </a:r>
            <a:r>
              <a:rPr spc="-229" dirty="0"/>
              <a:t>준법</a:t>
            </a:r>
            <a:r>
              <a:rPr spc="-190" dirty="0"/>
              <a:t> </a:t>
            </a:r>
            <a:r>
              <a:rPr spc="-229" dirty="0"/>
              <a:t>서약</a:t>
            </a:r>
            <a:r>
              <a:rPr spc="-190" dirty="0"/>
              <a:t> </a:t>
            </a:r>
            <a:r>
              <a:rPr spc="-229" dirty="0" err="1"/>
              <a:t>시스템</a:t>
            </a:r>
            <a:r>
              <a:rPr spc="-195" dirty="0"/>
              <a:t> </a:t>
            </a:r>
            <a:br>
              <a:rPr lang="en-US" spc="-195" dirty="0"/>
            </a:br>
            <a:r>
              <a:rPr spc="-25" dirty="0" err="1"/>
              <a:t>구축</a:t>
            </a:r>
            <a:r>
              <a:rPr spc="-25" dirty="0"/>
              <a:t> </a:t>
            </a:r>
            <a:r>
              <a:rPr lang="ko-KR" altLang="en-US" spc="-229" dirty="0"/>
              <a:t>프로젝트</a:t>
            </a:r>
            <a:endParaRPr spc="-130" dirty="0"/>
          </a:p>
        </p:txBody>
      </p:sp>
      <p:sp>
        <p:nvSpPr>
          <p:cNvPr id="3" name="object 3"/>
          <p:cNvSpPr txBox="1"/>
          <p:nvPr/>
        </p:nvSpPr>
        <p:spPr>
          <a:xfrm>
            <a:off x="603499" y="3452216"/>
            <a:ext cx="40487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40" dirty="0">
                <a:solidFill>
                  <a:srgbClr val="545454"/>
                </a:solidFill>
                <a:latin typeface="Lucida Sans"/>
                <a:cs typeface="Lucida Sans"/>
              </a:rPr>
              <a:t>Compliance</a:t>
            </a:r>
            <a:r>
              <a:rPr sz="1600" spc="-65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600" spc="-20" dirty="0">
                <a:solidFill>
                  <a:srgbClr val="545454"/>
                </a:solidFill>
                <a:latin typeface="Lucida Sans"/>
                <a:cs typeface="Lucida Sans"/>
              </a:rPr>
              <a:t>Agreement</a:t>
            </a:r>
            <a:r>
              <a:rPr sz="1600" spc="-65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600" spc="-10" dirty="0">
                <a:solidFill>
                  <a:srgbClr val="545454"/>
                </a:solidFill>
                <a:latin typeface="Lucida Sans"/>
                <a:cs typeface="Lucida Sans"/>
              </a:rPr>
              <a:t>System</a:t>
            </a:r>
            <a:endParaRPr sz="1600" dirty="0">
              <a:latin typeface="Lucida Sans"/>
              <a:cs typeface="Lucida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88836" y="289999"/>
            <a:ext cx="5441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70" dirty="0">
                <a:solidFill>
                  <a:srgbClr val="878787"/>
                </a:solidFill>
                <a:latin typeface="Malgun Gothic"/>
                <a:cs typeface="Malgun Gothic"/>
              </a:rPr>
              <a:t>페이지</a:t>
            </a:r>
            <a:r>
              <a:rPr sz="800" spc="-5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800" dirty="0">
                <a:solidFill>
                  <a:srgbClr val="878787"/>
                </a:solidFill>
                <a:latin typeface="Malgun Gothic"/>
                <a:cs typeface="Malgun Gothic"/>
              </a:rPr>
              <a:t>1</a:t>
            </a:r>
            <a:r>
              <a:rPr sz="800" spc="-5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800" dirty="0">
                <a:solidFill>
                  <a:srgbClr val="878787"/>
                </a:solidFill>
                <a:latin typeface="Malgun Gothic"/>
                <a:cs typeface="Malgun Gothic"/>
              </a:rPr>
              <a:t>/</a:t>
            </a:r>
            <a:r>
              <a:rPr sz="800" spc="-50" dirty="0">
                <a:solidFill>
                  <a:srgbClr val="878787"/>
                </a:solidFill>
                <a:latin typeface="Malgun Gothic"/>
                <a:cs typeface="Malgun Gothic"/>
              </a:rPr>
              <a:t> 5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05325800-9691-44F2-BCD7-66B9C714F268}"/>
              </a:ext>
            </a:extLst>
          </p:cNvPr>
          <p:cNvSpPr txBox="1"/>
          <p:nvPr/>
        </p:nvSpPr>
        <p:spPr>
          <a:xfrm>
            <a:off x="527299" y="9000947"/>
            <a:ext cx="1170940" cy="9105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1100" b="1" spc="-35" dirty="0">
                <a:solidFill>
                  <a:schemeClr val="accent1"/>
                </a:solidFill>
                <a:latin typeface="Lucida Sans"/>
                <a:cs typeface="Malgun Gothic"/>
              </a:rPr>
              <a:t>작성일자</a:t>
            </a:r>
            <a:endParaRPr lang="en-US" altLang="ko-KR" sz="1100" b="1" spc="-35" dirty="0">
              <a:solidFill>
                <a:schemeClr val="accent1"/>
              </a:solidFill>
              <a:latin typeface="Lucida Sans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1100" b="1" spc="-35" dirty="0">
              <a:solidFill>
                <a:schemeClr val="accent1"/>
              </a:solidFill>
              <a:latin typeface="Lucida Sans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1100" b="1" spc="-35" dirty="0">
                <a:solidFill>
                  <a:schemeClr val="accent1"/>
                </a:solidFill>
                <a:latin typeface="Lucida Sans"/>
                <a:cs typeface="Malgun Gothic"/>
              </a:rPr>
              <a:t>버전</a:t>
            </a:r>
            <a:endParaRPr lang="en-US" altLang="ko-KR" sz="1100" b="1" spc="-35" dirty="0">
              <a:solidFill>
                <a:schemeClr val="accent1"/>
              </a:solidFill>
              <a:latin typeface="Lucida Sans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1100" b="1" spc="-35" dirty="0">
              <a:solidFill>
                <a:schemeClr val="accent1"/>
              </a:solidFill>
              <a:latin typeface="Lucida Sans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1100" b="1" spc="-35" dirty="0">
                <a:solidFill>
                  <a:schemeClr val="accent1"/>
                </a:solidFill>
                <a:latin typeface="Lucida Sans"/>
                <a:cs typeface="Malgun Gothic"/>
              </a:rPr>
              <a:t>작성자</a:t>
            </a:r>
            <a:endParaRPr sz="1100" b="1" dirty="0">
              <a:solidFill>
                <a:schemeClr val="accent1"/>
              </a:solidFill>
              <a:latin typeface="Malgun Gothic"/>
              <a:cs typeface="Malgun Gothic"/>
            </a:endParaRPr>
          </a:p>
        </p:txBody>
      </p:sp>
      <p:sp>
        <p:nvSpPr>
          <p:cNvPr id="13" name="object 5">
            <a:extLst>
              <a:ext uri="{FF2B5EF4-FFF2-40B4-BE49-F238E27FC236}">
                <a16:creationId xmlns:a16="http://schemas.microsoft.com/office/drawing/2014/main" id="{8A671D4D-3374-4E41-810C-1DBA12BEAB61}"/>
              </a:ext>
            </a:extLst>
          </p:cNvPr>
          <p:cNvSpPr txBox="1"/>
          <p:nvPr/>
        </p:nvSpPr>
        <p:spPr>
          <a:xfrm>
            <a:off x="1568381" y="9000947"/>
            <a:ext cx="1170940" cy="9105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1100" b="1" spc="-35" dirty="0">
                <a:solidFill>
                  <a:srgbClr val="444444"/>
                </a:solidFill>
                <a:latin typeface="Lucida Sans"/>
                <a:cs typeface="Malgun Gothic"/>
              </a:rPr>
              <a:t>2026.05.07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1100" b="1" spc="-35" dirty="0">
              <a:solidFill>
                <a:srgbClr val="444444"/>
              </a:solidFill>
              <a:latin typeface="Lucida Sans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b="1" spc="-35" dirty="0">
                <a:solidFill>
                  <a:srgbClr val="444444"/>
                </a:solidFill>
                <a:latin typeface="Lucida Sans"/>
                <a:cs typeface="Malgun Gothic"/>
              </a:rPr>
              <a:t>V1.0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1100" b="1" spc="-35" dirty="0">
              <a:solidFill>
                <a:srgbClr val="444444"/>
              </a:solidFill>
              <a:latin typeface="Lucida Sans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1100" b="1" spc="-35" dirty="0">
                <a:solidFill>
                  <a:srgbClr val="444444"/>
                </a:solidFill>
                <a:latin typeface="Lucida Sans"/>
                <a:cs typeface="Malgun Gothic"/>
              </a:rPr>
              <a:t>조경란</a:t>
            </a:r>
            <a:endParaRPr sz="1100" b="1" dirty="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6199" y="2241498"/>
            <a:ext cx="6327775" cy="0"/>
          </a:xfrm>
          <a:custGeom>
            <a:avLst/>
            <a:gdLst/>
            <a:ahLst/>
            <a:cxnLst/>
            <a:rect l="l" t="t" r="r" b="b"/>
            <a:pathLst>
              <a:path w="6327775">
                <a:moveTo>
                  <a:pt x="0" y="0"/>
                </a:moveTo>
                <a:lnTo>
                  <a:pt x="6327601" y="0"/>
                </a:lnTo>
              </a:path>
            </a:pathLst>
          </a:custGeom>
          <a:ln w="9525">
            <a:solidFill>
              <a:srgbClr val="CCCCCC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5460634"/>
              </p:ext>
            </p:extLst>
          </p:nvPr>
        </p:nvGraphicFramePr>
        <p:xfrm>
          <a:off x="616199" y="4710655"/>
          <a:ext cx="6316980" cy="2021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79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1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66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4965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900" b="1" spc="-85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구성</a:t>
                      </a:r>
                      <a:r>
                        <a:rPr sz="900" b="1" spc="-55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</a:t>
                      </a:r>
                      <a:r>
                        <a:rPr sz="900" b="1" spc="-25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요소</a:t>
                      </a:r>
                      <a:endParaRPr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0" marR="0" marT="10922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004B97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900" b="1" spc="-85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주요</a:t>
                      </a:r>
                      <a:r>
                        <a:rPr sz="900" b="1" spc="-55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</a:t>
                      </a:r>
                      <a:r>
                        <a:rPr sz="900" b="1" spc="-25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역할</a:t>
                      </a:r>
                      <a:endParaRPr sz="9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0" marR="0" marT="10922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004B97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900" b="1" spc="-85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사용</a:t>
                      </a:r>
                      <a:r>
                        <a:rPr sz="900" b="1" spc="-55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</a:t>
                      </a:r>
                      <a:r>
                        <a:rPr sz="900" b="1" spc="-85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기술</a:t>
                      </a:r>
                      <a:r>
                        <a:rPr sz="900" b="1" spc="-50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</a:t>
                      </a:r>
                      <a:r>
                        <a:rPr sz="900" b="1" spc="-85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스택</a:t>
                      </a:r>
                      <a:r>
                        <a:rPr sz="900" b="1" spc="-55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</a:t>
                      </a:r>
                      <a:r>
                        <a:rPr sz="900" b="1" spc="-20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(예시)</a:t>
                      </a:r>
                      <a:endParaRPr sz="9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0" marR="0" marT="10922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004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4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endParaRPr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900" b="1" spc="-114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 Black"/>
                        </a:rPr>
                        <a:t>PC</a:t>
                      </a:r>
                      <a:r>
                        <a:rPr sz="900" b="1" spc="-7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 Black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클라이언트</a:t>
                      </a:r>
                      <a:endParaRPr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0" marR="0" marT="7239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900" spc="-8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주기적</a:t>
                      </a:r>
                      <a:r>
                        <a:rPr sz="900" spc="-5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Lucida Sans"/>
                        </a:rPr>
                        <a:t>API</a:t>
                      </a:r>
                      <a:r>
                        <a:rPr sz="900" spc="-35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Lucida Sans"/>
                        </a:rPr>
                        <a:t> </a:t>
                      </a:r>
                      <a:r>
                        <a:rPr sz="900" spc="-4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조회,</a:t>
                      </a:r>
                      <a:r>
                        <a:rPr sz="900" spc="-5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</a:t>
                      </a:r>
                      <a:r>
                        <a:rPr sz="900" spc="-8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전체화면</a:t>
                      </a:r>
                      <a:r>
                        <a:rPr sz="900" spc="-5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</a:t>
                      </a:r>
                      <a:r>
                        <a:rPr sz="900" spc="-85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팝업</a:t>
                      </a:r>
                      <a:r>
                        <a:rPr sz="900" spc="-5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</a:t>
                      </a:r>
                      <a:r>
                        <a:rPr sz="900" spc="-25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차단,</a:t>
                      </a:r>
                      <a:endParaRPr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90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Lucida Sans"/>
                        </a:rPr>
                        <a:t>SSO</a:t>
                      </a:r>
                      <a:r>
                        <a:rPr sz="900" spc="-45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Lucida Sans"/>
                        </a:rPr>
                        <a:t> </a:t>
                      </a:r>
                      <a:r>
                        <a:rPr sz="900" spc="-85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및</a:t>
                      </a:r>
                      <a:r>
                        <a:rPr sz="900" spc="-5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</a:t>
                      </a:r>
                      <a:r>
                        <a:rPr sz="900" spc="-85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단말</a:t>
                      </a:r>
                      <a:r>
                        <a:rPr sz="900" spc="-55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</a:t>
                      </a:r>
                      <a:r>
                        <a:rPr sz="900" spc="-85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정보</a:t>
                      </a:r>
                      <a:r>
                        <a:rPr sz="900" spc="-55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</a:t>
                      </a:r>
                      <a:r>
                        <a:rPr sz="900" spc="-4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연동,</a:t>
                      </a:r>
                      <a:r>
                        <a:rPr sz="900" spc="-55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</a:t>
                      </a:r>
                      <a:r>
                        <a:rPr sz="900" spc="-85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서약</a:t>
                      </a:r>
                      <a:r>
                        <a:rPr sz="900" spc="-5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</a:t>
                      </a:r>
                      <a:r>
                        <a:rPr sz="900" spc="-25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전송</a:t>
                      </a:r>
                      <a:endParaRPr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0" marR="0" marT="11493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 marR="156845">
                        <a:lnSpc>
                          <a:spcPct val="137300"/>
                        </a:lnSpc>
                        <a:spcBef>
                          <a:spcPts val="434"/>
                        </a:spcBef>
                      </a:pPr>
                      <a:r>
                        <a:rPr sz="90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Lucida Sans"/>
                        </a:rPr>
                        <a:t>Python</a:t>
                      </a:r>
                      <a:r>
                        <a:rPr sz="900" spc="-3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Lucida Sans"/>
                        </a:rPr>
                        <a:t> </a:t>
                      </a:r>
                      <a:r>
                        <a:rPr sz="900" spc="-6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Lucida Sans"/>
                        </a:rPr>
                        <a:t>3.x,</a:t>
                      </a:r>
                      <a:r>
                        <a:rPr sz="900" spc="-3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Lucida Sans"/>
                        </a:rPr>
                        <a:t> </a:t>
                      </a:r>
                      <a:r>
                        <a:rPr sz="900" spc="-5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Lucida Sans"/>
                        </a:rPr>
                        <a:t>Tkinter,</a:t>
                      </a:r>
                      <a:r>
                        <a:rPr sz="900" spc="-3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Lucida Sans"/>
                        </a:rPr>
                        <a:t> </a:t>
                      </a:r>
                      <a:r>
                        <a:rPr sz="900" spc="-2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Lucida Sans"/>
                        </a:rPr>
                        <a:t>PyInstaller,</a:t>
                      </a:r>
                      <a:r>
                        <a:rPr sz="900" spc="-25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Lucida Sans"/>
                        </a:rPr>
                        <a:t> </a:t>
                      </a:r>
                      <a:r>
                        <a:rPr sz="900" spc="-1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Lucida Sans"/>
                        </a:rPr>
                        <a:t>Windows Registry</a:t>
                      </a:r>
                      <a:endParaRPr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Lucida Sans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endParaRPr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900" b="1" spc="-85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중앙</a:t>
                      </a:r>
                      <a:r>
                        <a:rPr sz="900" b="1" spc="-65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</a:t>
                      </a:r>
                      <a:r>
                        <a:rPr sz="900" b="1" spc="-75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 Black"/>
                        </a:rPr>
                        <a:t>DB</a:t>
                      </a:r>
                      <a:r>
                        <a:rPr sz="900" b="1" spc="-6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 Black"/>
                        </a:rPr>
                        <a:t> </a:t>
                      </a:r>
                      <a:r>
                        <a:rPr sz="900" b="1" spc="125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 Black"/>
                        </a:rPr>
                        <a:t>/</a:t>
                      </a:r>
                      <a:r>
                        <a:rPr sz="900" b="1" spc="-65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 Black"/>
                        </a:rPr>
                        <a:t> </a:t>
                      </a:r>
                      <a:r>
                        <a:rPr sz="900" b="1" spc="-25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 Black"/>
                        </a:rPr>
                        <a:t>API</a:t>
                      </a:r>
                      <a:endParaRPr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 Black"/>
                      </a:endParaRPr>
                    </a:p>
                  </a:txBody>
                  <a:tcPr marL="0" marR="0" marT="6985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900" spc="-85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서약</a:t>
                      </a:r>
                      <a:r>
                        <a:rPr sz="900" spc="-5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</a:t>
                      </a:r>
                      <a:r>
                        <a:rPr sz="900" spc="-8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데이터</a:t>
                      </a:r>
                      <a:r>
                        <a:rPr sz="900" spc="-45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</a:t>
                      </a:r>
                      <a:r>
                        <a:rPr sz="900" spc="-4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적재(로그),</a:t>
                      </a:r>
                      <a:r>
                        <a:rPr sz="900" spc="-45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</a:t>
                      </a:r>
                      <a:r>
                        <a:rPr sz="900" spc="-85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서약</a:t>
                      </a:r>
                      <a:r>
                        <a:rPr sz="900" spc="-5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</a:t>
                      </a:r>
                      <a:r>
                        <a:rPr sz="900" spc="-85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문구</a:t>
                      </a:r>
                      <a:r>
                        <a:rPr sz="900" spc="-45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</a:t>
                      </a:r>
                      <a:r>
                        <a:rPr sz="900" spc="-25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제공</a:t>
                      </a:r>
                      <a:endParaRPr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  <a:spcBef>
                          <a:spcPts val="380"/>
                        </a:spcBef>
                        <a:tabLst>
                          <a:tab pos="979169" algn="l"/>
                        </a:tabLst>
                      </a:pPr>
                      <a:r>
                        <a:rPr sz="90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Lucida Sans"/>
                        </a:rPr>
                        <a:t>API,</a:t>
                      </a:r>
                      <a:r>
                        <a:rPr sz="900" spc="-5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Lucida Sans"/>
                        </a:rPr>
                        <a:t> </a:t>
                      </a:r>
                      <a:r>
                        <a:rPr sz="90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Lucida Sans"/>
                        </a:rPr>
                        <a:t>SSO</a:t>
                      </a:r>
                      <a:r>
                        <a:rPr sz="900" spc="-45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Lucida Sans"/>
                        </a:rPr>
                        <a:t> </a:t>
                      </a:r>
                      <a:r>
                        <a:rPr sz="900" spc="-25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연동</a:t>
                      </a:r>
                      <a:r>
                        <a:rPr sz="90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	</a:t>
                      </a:r>
                      <a:r>
                        <a:rPr sz="900" spc="-5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증</a:t>
                      </a:r>
                      <a:endParaRPr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0" marR="0" marT="11239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238760">
                        <a:lnSpc>
                          <a:spcPct val="133500"/>
                        </a:lnSpc>
                        <a:spcBef>
                          <a:spcPts val="480"/>
                        </a:spcBef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Lucida Sans"/>
                        </a:rPr>
                        <a:t>확인필요</a:t>
                      </a:r>
                      <a:endParaRPr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Lucida Sans"/>
                      </a:endParaRPr>
                    </a:p>
                  </a:txBody>
                  <a:tcPr marL="0" marR="0" marT="6096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9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endParaRPr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900" b="1" spc="-85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웹</a:t>
                      </a:r>
                      <a:r>
                        <a:rPr sz="900" b="1" spc="-6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</a:t>
                      </a:r>
                      <a:r>
                        <a:rPr sz="900" b="1" spc="-8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관리자</a:t>
                      </a:r>
                      <a:r>
                        <a:rPr sz="900" b="1" spc="-6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</a:t>
                      </a:r>
                      <a:r>
                        <a:rPr sz="900" b="1" spc="-25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페이지</a:t>
                      </a:r>
                      <a:endParaRPr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0" marR="0" marT="6985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 marR="125095">
                        <a:lnSpc>
                          <a:spcPct val="133300"/>
                        </a:lnSpc>
                        <a:spcBef>
                          <a:spcPts val="505"/>
                        </a:spcBef>
                      </a:pPr>
                      <a:r>
                        <a:rPr sz="900" spc="-8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실시간</a:t>
                      </a:r>
                      <a:r>
                        <a:rPr sz="900" spc="-55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</a:t>
                      </a:r>
                      <a:r>
                        <a:rPr sz="900" spc="-85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동의</a:t>
                      </a:r>
                      <a:r>
                        <a:rPr sz="900" spc="-55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</a:t>
                      </a:r>
                      <a:r>
                        <a:rPr sz="900" spc="-85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현황</a:t>
                      </a:r>
                      <a:r>
                        <a:rPr sz="900" spc="-55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</a:t>
                      </a:r>
                      <a:r>
                        <a:rPr sz="900" spc="-6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모니터링,</a:t>
                      </a:r>
                      <a:r>
                        <a:rPr sz="900" spc="-55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</a:t>
                      </a:r>
                      <a:r>
                        <a:rPr sz="900" spc="-8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서약서</a:t>
                      </a:r>
                      <a:r>
                        <a:rPr sz="900" spc="-55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</a:t>
                      </a:r>
                      <a:r>
                        <a:rPr sz="900" spc="-9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문구 </a:t>
                      </a:r>
                      <a:r>
                        <a:rPr sz="900" spc="-85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편집</a:t>
                      </a:r>
                      <a:r>
                        <a:rPr sz="900" spc="-6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</a:t>
                      </a:r>
                      <a:r>
                        <a:rPr sz="900" spc="-85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및</a:t>
                      </a:r>
                      <a:r>
                        <a:rPr sz="900" spc="-55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</a:t>
                      </a:r>
                      <a:r>
                        <a:rPr sz="900" spc="-8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스케줄</a:t>
                      </a:r>
                      <a:r>
                        <a:rPr sz="900" spc="-6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</a:t>
                      </a:r>
                      <a:r>
                        <a:rPr sz="900" spc="-25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관리</a:t>
                      </a:r>
                      <a:endParaRPr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0" marR="0" marT="6413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90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Lucida Sans"/>
                        </a:rPr>
                        <a:t>Web</a:t>
                      </a:r>
                      <a:r>
                        <a:rPr sz="900" spc="-4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Lucida Sans"/>
                        </a:rPr>
                        <a:t> </a:t>
                      </a:r>
                      <a:r>
                        <a:rPr sz="900" spc="-1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Lucida Sans"/>
                        </a:rPr>
                        <a:t>Framework</a:t>
                      </a:r>
                      <a:r>
                        <a:rPr sz="900" spc="-4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Lucida Sans"/>
                        </a:rPr>
                        <a:t> </a:t>
                      </a:r>
                      <a:r>
                        <a:rPr sz="900" spc="-3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Lucida Sans"/>
                        </a:rPr>
                        <a:t>(</a:t>
                      </a:r>
                      <a:r>
                        <a:rPr lang="ko-KR" altLang="en-US" sz="900" spc="-3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Lucida Sans"/>
                        </a:rPr>
                        <a:t>미정</a:t>
                      </a:r>
                      <a:r>
                        <a:rPr lang="en-US" altLang="ko-KR" sz="900" spc="-30" dirty="0">
                          <a:solidFill>
                            <a:srgbClr val="3333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Lucida Sans"/>
                        </a:rPr>
                        <a:t>)</a:t>
                      </a:r>
                      <a:endParaRPr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0" marR="0" marT="10922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611684" y="1949343"/>
            <a:ext cx="6353175" cy="1416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4480" lvl="1" indent="-271780">
              <a:lnSpc>
                <a:spcPct val="100000"/>
              </a:lnSpc>
              <a:spcBef>
                <a:spcPts val="1575"/>
              </a:spcBef>
              <a:buAutoNum type="arabicPeriod"/>
              <a:tabLst>
                <a:tab pos="284480" algn="l"/>
              </a:tabLst>
            </a:pPr>
            <a:r>
              <a:rPr sz="1200" b="1" spc="-105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추진</a:t>
            </a:r>
            <a:r>
              <a:rPr sz="1200" b="1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200" b="1" spc="-10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배경</a:t>
            </a:r>
            <a:r>
              <a:rPr sz="1200" b="1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200" b="1" spc="-10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및</a:t>
            </a:r>
            <a:r>
              <a:rPr sz="1200" b="1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200" b="1" spc="-2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목적</a:t>
            </a:r>
            <a:endParaRPr sz="1200" dirty="0"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  <a:p>
            <a:pPr marL="202565" lvl="2" indent="-71120">
              <a:lnSpc>
                <a:spcPct val="100000"/>
              </a:lnSpc>
              <a:spcBef>
                <a:spcPts val="1330"/>
              </a:spcBef>
              <a:buFont typeface="Malgun Gothic"/>
              <a:buChar char="•"/>
              <a:tabLst>
                <a:tab pos="202565" algn="l"/>
              </a:tabLst>
            </a:pPr>
            <a:r>
              <a:rPr sz="1000" b="1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보안</a:t>
            </a:r>
            <a:r>
              <a:rPr sz="1000" b="1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b="1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컴플라이언스</a:t>
            </a:r>
            <a:r>
              <a:rPr sz="1000" b="1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b="1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준수</a:t>
            </a:r>
            <a:r>
              <a:rPr sz="1000" b="1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b="1" spc="-4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강화:</a:t>
            </a:r>
            <a:r>
              <a:rPr sz="1000" b="1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사내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정보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유출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방지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및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미승인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소프트웨어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사용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금지에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대한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정기적인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확약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2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필요.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  <a:p>
            <a:pPr marL="203200" marR="97790" lvl="2" indent="-71755">
              <a:lnSpc>
                <a:spcPct val="133300"/>
              </a:lnSpc>
              <a:spcBef>
                <a:spcPts val="375"/>
              </a:spcBef>
              <a:buFont typeface="Malgun Gothic"/>
              <a:buChar char="•"/>
              <a:tabLst>
                <a:tab pos="203200" algn="l"/>
              </a:tabLst>
            </a:pPr>
            <a:r>
              <a:rPr sz="1000" b="1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서약</a:t>
            </a:r>
            <a:r>
              <a:rPr sz="1000" b="1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b="1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프로세스</a:t>
            </a:r>
            <a:r>
              <a:rPr sz="1000" b="1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b="1" spc="-5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자동화:</a:t>
            </a:r>
            <a:r>
              <a:rPr sz="1000" b="1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수동</a:t>
            </a:r>
            <a:r>
              <a:rPr sz="1000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서약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프로세스를</a:t>
            </a:r>
            <a:r>
              <a:rPr sz="1000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전산화하여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임직원의</a:t>
            </a:r>
            <a:r>
              <a:rPr sz="1000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참여율을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100%로</a:t>
            </a:r>
            <a:r>
              <a:rPr sz="1000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보장하고,</a:t>
            </a:r>
            <a:r>
              <a:rPr sz="1000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감사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증적</a:t>
            </a:r>
            <a:r>
              <a:rPr sz="1000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자료를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5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실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시간</a:t>
            </a:r>
            <a:r>
              <a:rPr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2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자산화.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  <a:p>
            <a:pPr marL="203200" marR="111125" lvl="2" indent="-71755">
              <a:lnSpc>
                <a:spcPct val="133300"/>
              </a:lnSpc>
              <a:spcBef>
                <a:spcPts val="375"/>
              </a:spcBef>
              <a:buFont typeface="Malgun Gothic"/>
              <a:buChar char="•"/>
              <a:tabLst>
                <a:tab pos="203200" algn="l"/>
              </a:tabLst>
            </a:pPr>
            <a:r>
              <a:rPr sz="1000" b="1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중앙</a:t>
            </a:r>
            <a:r>
              <a:rPr sz="1000" b="1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b="1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집중식</a:t>
            </a:r>
            <a:r>
              <a:rPr sz="1000" b="1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b="1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서약</a:t>
            </a:r>
            <a:r>
              <a:rPr sz="1000" b="1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b="1" spc="-4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관리:</a:t>
            </a:r>
            <a:r>
              <a:rPr sz="1000" b="1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컴플라이언스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기준</a:t>
            </a:r>
            <a:r>
              <a:rPr sz="1000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변경에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따라</a:t>
            </a:r>
            <a:r>
              <a:rPr sz="1000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유연하게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서약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문구를</a:t>
            </a:r>
            <a:r>
              <a:rPr sz="1000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편집하고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대상자에게</a:t>
            </a:r>
            <a:r>
              <a:rPr sz="1000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신속하게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70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전파할</a:t>
            </a:r>
            <a:r>
              <a:rPr lang="en-US"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수 있는 환경 마련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endParaRPr lang="en-US" altLang="ko-KR" sz="1000" spc="-25" dirty="0">
              <a:solidFill>
                <a:srgbClr val="333333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5388" y="5954390"/>
            <a:ext cx="92075" cy="11112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488836" y="289999"/>
            <a:ext cx="5441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70" dirty="0">
                <a:solidFill>
                  <a:srgbClr val="878787"/>
                </a:solidFill>
                <a:latin typeface="Malgun Gothic"/>
                <a:cs typeface="Malgun Gothic"/>
              </a:rPr>
              <a:t>페이지</a:t>
            </a:r>
            <a:r>
              <a:rPr sz="800" spc="-5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800" dirty="0">
                <a:solidFill>
                  <a:srgbClr val="878787"/>
                </a:solidFill>
                <a:latin typeface="Malgun Gothic"/>
                <a:cs typeface="Malgun Gothic"/>
              </a:rPr>
              <a:t>2</a:t>
            </a:r>
            <a:r>
              <a:rPr sz="800" spc="-5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800" dirty="0">
                <a:solidFill>
                  <a:srgbClr val="878787"/>
                </a:solidFill>
                <a:latin typeface="Malgun Gothic"/>
                <a:cs typeface="Malgun Gothic"/>
              </a:rPr>
              <a:t>/</a:t>
            </a:r>
            <a:r>
              <a:rPr sz="800" spc="-50" dirty="0">
                <a:solidFill>
                  <a:srgbClr val="878787"/>
                </a:solidFill>
                <a:latin typeface="Malgun Gothic"/>
                <a:cs typeface="Malgun Gothic"/>
              </a:rPr>
              <a:t> 5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527298" y="10252557"/>
            <a:ext cx="2717551" cy="142988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pc="-114" dirty="0"/>
              <a:t>KB</a:t>
            </a:r>
            <a:r>
              <a:rPr spc="-25" dirty="0"/>
              <a:t> </a:t>
            </a:r>
            <a:r>
              <a:rPr lang="en-US" spc="-55" dirty="0"/>
              <a:t>Data System</a:t>
            </a:r>
            <a:r>
              <a:rPr spc="-25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60" dirty="0"/>
              <a:t>Compliance</a:t>
            </a:r>
            <a:r>
              <a:rPr spc="-25" dirty="0"/>
              <a:t> </a:t>
            </a:r>
            <a:r>
              <a:rPr lang="en-US" spc="-25" dirty="0"/>
              <a:t>Agreement</a:t>
            </a:r>
            <a:r>
              <a:rPr spc="-25" dirty="0"/>
              <a:t> </a:t>
            </a:r>
            <a:r>
              <a:rPr spc="-30" dirty="0"/>
              <a:t>Project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8F928CA-7C5C-446C-964A-CB72CD698BA4}"/>
              </a:ext>
            </a:extLst>
          </p:cNvPr>
          <p:cNvGrpSpPr/>
          <p:nvPr/>
        </p:nvGrpSpPr>
        <p:grpSpPr>
          <a:xfrm>
            <a:off x="533400" y="666860"/>
            <a:ext cx="6410574" cy="400050"/>
            <a:chOff x="533400" y="709250"/>
            <a:chExt cx="6410574" cy="400050"/>
          </a:xfrm>
        </p:grpSpPr>
        <p:sp>
          <p:nvSpPr>
            <p:cNvPr id="11" name="bg object 16">
              <a:extLst>
                <a:ext uri="{FF2B5EF4-FFF2-40B4-BE49-F238E27FC236}">
                  <a16:creationId xmlns:a16="http://schemas.microsoft.com/office/drawing/2014/main" id="{331B96EE-F7AB-434A-9C48-DAD23EBD8E10}"/>
                </a:ext>
              </a:extLst>
            </p:cNvPr>
            <p:cNvSpPr/>
            <p:nvPr/>
          </p:nvSpPr>
          <p:spPr>
            <a:xfrm>
              <a:off x="616199" y="709250"/>
              <a:ext cx="6327775" cy="400050"/>
            </a:xfrm>
            <a:custGeom>
              <a:avLst/>
              <a:gdLst/>
              <a:ahLst/>
              <a:cxnLst/>
              <a:rect l="l" t="t" r="r" b="b"/>
              <a:pathLst>
                <a:path w="6327775" h="400050">
                  <a:moveTo>
                    <a:pt x="6327600" y="400050"/>
                  </a:moveTo>
                  <a:lnTo>
                    <a:pt x="0" y="400050"/>
                  </a:lnTo>
                  <a:lnTo>
                    <a:pt x="0" y="0"/>
                  </a:lnTo>
                  <a:lnTo>
                    <a:pt x="6327600" y="0"/>
                  </a:lnTo>
                  <a:lnTo>
                    <a:pt x="6327600" y="400050"/>
                  </a:lnTo>
                  <a:close/>
                </a:path>
              </a:pathLst>
            </a:custGeom>
            <a:solidFill>
              <a:srgbClr val="EFF4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bg object 17">
              <a:extLst>
                <a:ext uri="{FF2B5EF4-FFF2-40B4-BE49-F238E27FC236}">
                  <a16:creationId xmlns:a16="http://schemas.microsoft.com/office/drawing/2014/main" id="{CFCAB849-12C8-44D5-99CA-641962CA3F3F}"/>
                </a:ext>
              </a:extLst>
            </p:cNvPr>
            <p:cNvSpPr/>
            <p:nvPr/>
          </p:nvSpPr>
          <p:spPr>
            <a:xfrm>
              <a:off x="616199" y="709250"/>
              <a:ext cx="47625" cy="400050"/>
            </a:xfrm>
            <a:custGeom>
              <a:avLst/>
              <a:gdLst/>
              <a:ahLst/>
              <a:cxnLst/>
              <a:rect l="l" t="t" r="r" b="b"/>
              <a:pathLst>
                <a:path w="47625" h="400050">
                  <a:moveTo>
                    <a:pt x="47625" y="400050"/>
                  </a:moveTo>
                  <a:lnTo>
                    <a:pt x="0" y="400050"/>
                  </a:lnTo>
                  <a:lnTo>
                    <a:pt x="0" y="0"/>
                  </a:lnTo>
                  <a:lnTo>
                    <a:pt x="47625" y="0"/>
                  </a:lnTo>
                  <a:lnTo>
                    <a:pt x="47625" y="400050"/>
                  </a:lnTo>
                  <a:close/>
                </a:path>
              </a:pathLst>
            </a:custGeom>
            <a:solidFill>
              <a:srgbClr val="004B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A3A506D-E1F8-4940-A232-1327733EE00C}"/>
                </a:ext>
              </a:extLst>
            </p:cNvPr>
            <p:cNvSpPr txBox="1"/>
            <p:nvPr/>
          </p:nvSpPr>
          <p:spPr>
            <a:xfrm>
              <a:off x="533400" y="739998"/>
              <a:ext cx="37782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55575">
                <a:lnSpc>
                  <a:spcPct val="100000"/>
                </a:lnSpc>
              </a:pPr>
              <a:r>
                <a:rPr lang="en-US" altLang="ko-KR" sz="1600" b="1" spc="50" dirty="0">
                  <a:solidFill>
                    <a:srgbClr val="004B9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Malgun Gothic"/>
                </a:rPr>
                <a:t>1. </a:t>
              </a:r>
              <a:r>
                <a:rPr lang="ko-KR" altLang="en-US" sz="1600" b="1" spc="50" dirty="0">
                  <a:solidFill>
                    <a:srgbClr val="004B9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Malgun Gothic"/>
                </a:rPr>
                <a:t>프로젝트 개요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5DF99C8-FB88-40C5-A7FF-1D7534DB22AA}"/>
              </a:ext>
            </a:extLst>
          </p:cNvPr>
          <p:cNvGrpSpPr/>
          <p:nvPr/>
        </p:nvGrpSpPr>
        <p:grpSpPr>
          <a:xfrm>
            <a:off x="505073" y="3649623"/>
            <a:ext cx="6410574" cy="400050"/>
            <a:chOff x="533400" y="709250"/>
            <a:chExt cx="6410574" cy="400050"/>
          </a:xfrm>
        </p:grpSpPr>
        <p:sp>
          <p:nvSpPr>
            <p:cNvPr id="17" name="bg object 16">
              <a:extLst>
                <a:ext uri="{FF2B5EF4-FFF2-40B4-BE49-F238E27FC236}">
                  <a16:creationId xmlns:a16="http://schemas.microsoft.com/office/drawing/2014/main" id="{A0CD0A1D-8360-4830-9DDB-F53949943C76}"/>
                </a:ext>
              </a:extLst>
            </p:cNvPr>
            <p:cNvSpPr/>
            <p:nvPr/>
          </p:nvSpPr>
          <p:spPr>
            <a:xfrm>
              <a:off x="616199" y="709250"/>
              <a:ext cx="6327775" cy="400050"/>
            </a:xfrm>
            <a:custGeom>
              <a:avLst/>
              <a:gdLst/>
              <a:ahLst/>
              <a:cxnLst/>
              <a:rect l="l" t="t" r="r" b="b"/>
              <a:pathLst>
                <a:path w="6327775" h="400050">
                  <a:moveTo>
                    <a:pt x="6327600" y="400050"/>
                  </a:moveTo>
                  <a:lnTo>
                    <a:pt x="0" y="400050"/>
                  </a:lnTo>
                  <a:lnTo>
                    <a:pt x="0" y="0"/>
                  </a:lnTo>
                  <a:lnTo>
                    <a:pt x="6327600" y="0"/>
                  </a:lnTo>
                  <a:lnTo>
                    <a:pt x="6327600" y="400050"/>
                  </a:lnTo>
                  <a:close/>
                </a:path>
              </a:pathLst>
            </a:custGeom>
            <a:solidFill>
              <a:srgbClr val="EFF4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bg object 17">
              <a:extLst>
                <a:ext uri="{FF2B5EF4-FFF2-40B4-BE49-F238E27FC236}">
                  <a16:creationId xmlns:a16="http://schemas.microsoft.com/office/drawing/2014/main" id="{66013959-CB73-47E9-A803-574D5C787717}"/>
                </a:ext>
              </a:extLst>
            </p:cNvPr>
            <p:cNvSpPr/>
            <p:nvPr/>
          </p:nvSpPr>
          <p:spPr>
            <a:xfrm>
              <a:off x="616199" y="709250"/>
              <a:ext cx="47625" cy="400050"/>
            </a:xfrm>
            <a:custGeom>
              <a:avLst/>
              <a:gdLst/>
              <a:ahLst/>
              <a:cxnLst/>
              <a:rect l="l" t="t" r="r" b="b"/>
              <a:pathLst>
                <a:path w="47625" h="400050">
                  <a:moveTo>
                    <a:pt x="47625" y="400050"/>
                  </a:moveTo>
                  <a:lnTo>
                    <a:pt x="0" y="400050"/>
                  </a:lnTo>
                  <a:lnTo>
                    <a:pt x="0" y="0"/>
                  </a:lnTo>
                  <a:lnTo>
                    <a:pt x="47625" y="0"/>
                  </a:lnTo>
                  <a:lnTo>
                    <a:pt x="47625" y="400050"/>
                  </a:lnTo>
                  <a:close/>
                </a:path>
              </a:pathLst>
            </a:custGeom>
            <a:solidFill>
              <a:srgbClr val="004B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E6344A2-74CC-4759-B65C-1892A2D520BB}"/>
                </a:ext>
              </a:extLst>
            </p:cNvPr>
            <p:cNvSpPr txBox="1"/>
            <p:nvPr/>
          </p:nvSpPr>
          <p:spPr>
            <a:xfrm>
              <a:off x="533400" y="739998"/>
              <a:ext cx="37782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55575">
                <a:lnSpc>
                  <a:spcPct val="100000"/>
                </a:lnSpc>
              </a:pPr>
              <a:r>
                <a:rPr lang="en-US" altLang="ko-KR" sz="1600" b="1" spc="50" dirty="0">
                  <a:solidFill>
                    <a:srgbClr val="004B9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Malgun Gothic"/>
                </a:rPr>
                <a:t>2. </a:t>
              </a:r>
              <a:r>
                <a:rPr lang="ko-KR" altLang="en-US" sz="1600" b="1" spc="50" dirty="0">
                  <a:solidFill>
                    <a:srgbClr val="004B9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Malgun Gothic"/>
                </a:rPr>
                <a:t>시스템 아키텍처 개요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endParaRPr>
            </a:p>
          </p:txBody>
        </p:sp>
      </p:grpSp>
      <p:sp>
        <p:nvSpPr>
          <p:cNvPr id="22" name="object 7">
            <a:extLst>
              <a:ext uri="{FF2B5EF4-FFF2-40B4-BE49-F238E27FC236}">
                <a16:creationId xmlns:a16="http://schemas.microsoft.com/office/drawing/2014/main" id="{F0B1064F-1823-4489-8494-0DA55C40EB6C}"/>
              </a:ext>
            </a:extLst>
          </p:cNvPr>
          <p:cNvSpPr txBox="1"/>
          <p:nvPr/>
        </p:nvSpPr>
        <p:spPr>
          <a:xfrm>
            <a:off x="688036" y="4176703"/>
            <a:ext cx="6227611" cy="4035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3300"/>
              </a:lnSpc>
              <a:spcBef>
                <a:spcPts val="1360"/>
              </a:spcBef>
            </a:pP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전체</a:t>
            </a:r>
            <a:r>
              <a:rPr lang="ko-KR" altLang="en-US" sz="1000" spc="-1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시스템은</a:t>
            </a:r>
            <a:r>
              <a:rPr lang="ko-KR" altLang="en-US" sz="1000" spc="-1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임직원</a:t>
            </a:r>
            <a:r>
              <a:rPr lang="ko-KR" altLang="en-US" sz="1000" spc="-1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en-US" altLang="ko-KR" sz="1000" spc="-3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ucida Sans"/>
              </a:rPr>
              <a:t>PC</a:t>
            </a:r>
            <a:r>
              <a:rPr lang="ko-KR" altLang="en-US" sz="1000" spc="-3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에</a:t>
            </a:r>
            <a:r>
              <a:rPr lang="ko-KR" altLang="en-US" sz="1000" spc="-1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상주하는</a:t>
            </a:r>
            <a:r>
              <a:rPr lang="ko-KR" altLang="en-US" sz="1000" spc="-1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b="1" spc="-5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클라이언트</a:t>
            </a:r>
            <a:r>
              <a:rPr lang="en-US" altLang="ko-KR" sz="1000" b="1" spc="-5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(</a:t>
            </a:r>
            <a:r>
              <a:rPr lang="en-US" altLang="ko-KR" sz="1000" b="1" spc="-5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 Black"/>
              </a:rPr>
              <a:t>Python</a:t>
            </a:r>
            <a:r>
              <a:rPr lang="ko-KR" altLang="en-US" sz="1000" b="1" spc="-5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기반</a:t>
            </a:r>
            <a:r>
              <a:rPr lang="en-US" altLang="ko-KR" sz="1000" b="1" spc="-5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)</a:t>
            </a:r>
            <a:r>
              <a:rPr lang="en-US" altLang="ko-KR" sz="1000" spc="-5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,</a:t>
            </a:r>
            <a:r>
              <a:rPr lang="ko-KR" altLang="en-US" sz="1000" spc="-1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중앙에서</a:t>
            </a:r>
            <a:r>
              <a:rPr lang="ko-KR" altLang="en-US" sz="1000" spc="-1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서약</a:t>
            </a:r>
            <a:r>
              <a:rPr lang="ko-KR" altLang="en-US" sz="1000" spc="-1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데이터를</a:t>
            </a:r>
            <a:r>
              <a:rPr lang="ko-KR" altLang="en-US" sz="1000" spc="-1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수집하고</a:t>
            </a:r>
            <a:r>
              <a:rPr lang="ko-KR" altLang="en-US" sz="1000" spc="-1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문구를</a:t>
            </a:r>
            <a:r>
              <a:rPr lang="ko-KR" altLang="en-US" sz="1000" spc="-1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관리</a:t>
            </a:r>
            <a:r>
              <a:rPr lang="ko-KR" altLang="en-US" sz="1000" spc="-3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하는</a:t>
            </a:r>
            <a:r>
              <a:rPr lang="ko-KR" altLang="en-US"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en-US" altLang="ko-KR" sz="1000" b="1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 Black"/>
              </a:rPr>
              <a:t>API</a:t>
            </a:r>
            <a:r>
              <a:rPr lang="ko-KR" altLang="en-US" sz="1000" b="1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 Black"/>
              </a:rPr>
              <a:t> </a:t>
            </a:r>
            <a:r>
              <a:rPr lang="ko-KR" altLang="en-US" sz="1000" b="1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및</a:t>
            </a:r>
            <a:r>
              <a:rPr lang="ko-KR" altLang="en-US" sz="1000" b="1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en-US" altLang="ko-KR" sz="1000" b="1" spc="-3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 Black"/>
              </a:rPr>
              <a:t>DB</a:t>
            </a:r>
            <a:r>
              <a:rPr lang="en-US" altLang="ko-KR" sz="1000" spc="-3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,</a:t>
            </a:r>
            <a:r>
              <a:rPr lang="ko-KR" altLang="en-US"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그리고</a:t>
            </a:r>
            <a:r>
              <a:rPr lang="ko-KR" altLang="en-US"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관리자가</a:t>
            </a:r>
            <a:r>
              <a:rPr lang="ko-KR" altLang="en-US"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조작하는</a:t>
            </a:r>
            <a:r>
              <a:rPr lang="ko-KR" altLang="en-US"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b="1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웹</a:t>
            </a:r>
            <a:r>
              <a:rPr lang="ko-KR" altLang="en-US" sz="1000" b="1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b="1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관리자</a:t>
            </a:r>
            <a:r>
              <a:rPr lang="ko-KR" altLang="en-US" sz="1000" b="1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b="1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페이지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의</a:t>
            </a:r>
            <a:r>
              <a:rPr lang="ko-KR" altLang="en-US"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en-US" altLang="ko-KR" sz="1000" spc="-3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3-</a:t>
            </a:r>
            <a:r>
              <a:rPr lang="en-US" altLang="ko-KR" sz="1000" spc="-3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ucida Sans"/>
              </a:rPr>
              <a:t>Tier</a:t>
            </a:r>
            <a:r>
              <a:rPr lang="ko-KR" altLang="en-US" sz="1000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ucida Sans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레이어로</a:t>
            </a:r>
            <a:r>
              <a:rPr lang="ko-KR" altLang="en-US"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구성됩니다</a:t>
            </a:r>
            <a:r>
              <a:rPr lang="en-US" altLang="ko-KR"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.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sp>
        <p:nvSpPr>
          <p:cNvPr id="29" name="object 7">
            <a:extLst>
              <a:ext uri="{FF2B5EF4-FFF2-40B4-BE49-F238E27FC236}">
                <a16:creationId xmlns:a16="http://schemas.microsoft.com/office/drawing/2014/main" id="{FF0C13F1-4574-4255-881E-4BE58BE834BB}"/>
              </a:ext>
            </a:extLst>
          </p:cNvPr>
          <p:cNvSpPr txBox="1"/>
          <p:nvPr/>
        </p:nvSpPr>
        <p:spPr>
          <a:xfrm>
            <a:off x="688036" y="1224639"/>
            <a:ext cx="6227611" cy="6036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3300"/>
              </a:lnSpc>
              <a:spcBef>
                <a:spcPts val="1360"/>
              </a:spcBef>
            </a:pP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본</a:t>
            </a:r>
            <a:r>
              <a:rPr lang="ko-KR" altLang="en-US" sz="1000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프로젝트는</a:t>
            </a:r>
            <a:r>
              <a:rPr lang="ko-KR" altLang="en-US" sz="1000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사내</a:t>
            </a:r>
            <a:r>
              <a:rPr lang="ko-KR" altLang="en-US" sz="1000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임직원의</a:t>
            </a:r>
            <a:r>
              <a:rPr lang="ko-KR" altLang="en-US" sz="1000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보안</a:t>
            </a:r>
            <a:r>
              <a:rPr lang="ko-KR" altLang="en-US" sz="1000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의식을</a:t>
            </a:r>
            <a:r>
              <a:rPr lang="ko-KR" altLang="en-US" sz="1000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고취하고</a:t>
            </a:r>
            <a:r>
              <a:rPr lang="ko-KR" altLang="en-US" sz="1000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준법</a:t>
            </a:r>
            <a:r>
              <a:rPr lang="ko-KR" altLang="en-US" sz="1000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경영을</a:t>
            </a:r>
            <a:r>
              <a:rPr lang="ko-KR" altLang="en-US" sz="1000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실현하기</a:t>
            </a:r>
            <a:r>
              <a:rPr lang="ko-KR" altLang="en-US" sz="1000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위한</a:t>
            </a:r>
            <a:r>
              <a:rPr lang="ko-KR" altLang="en-US" sz="1000" spc="-5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en-US" altLang="ko-KR" sz="1000" b="1" spc="-5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'</a:t>
            </a:r>
            <a:r>
              <a:rPr lang="ko-KR" altLang="en-US" sz="1000" b="1" spc="-5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사내</a:t>
            </a:r>
            <a:r>
              <a:rPr lang="ko-KR" altLang="en-US" sz="1000" b="1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b="1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준법</a:t>
            </a:r>
            <a:r>
              <a:rPr lang="ko-KR" altLang="en-US" sz="1000" b="1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b="1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서약</a:t>
            </a:r>
            <a:r>
              <a:rPr lang="ko-KR" altLang="en-US" sz="1000" b="1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시스템</a:t>
            </a:r>
            <a:r>
              <a:rPr lang="en-US" altLang="ko-KR" sz="1000" b="1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'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구축을</a:t>
            </a:r>
            <a:r>
              <a:rPr lang="ko-KR" altLang="en-US" sz="1000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목표로</a:t>
            </a:r>
            <a:r>
              <a:rPr lang="ko-KR" altLang="en-US" sz="1000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합</a:t>
            </a:r>
            <a:r>
              <a:rPr lang="ko-KR" altLang="en-US" sz="1000" spc="-4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니다</a:t>
            </a:r>
            <a:r>
              <a:rPr lang="en-US" altLang="ko-KR" sz="1000" spc="-4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.</a:t>
            </a:r>
            <a:r>
              <a:rPr lang="ko-KR" altLang="en-US" sz="1000" spc="-5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사용자가</a:t>
            </a:r>
            <a:r>
              <a:rPr lang="ko-KR" altLang="en-US" sz="1000" spc="-5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en-US" altLang="ko-KR" sz="1000" spc="-3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ucida Sans"/>
              </a:rPr>
              <a:t>PC</a:t>
            </a:r>
            <a:r>
              <a:rPr lang="ko-KR" altLang="en-US" sz="1000" spc="-3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를</a:t>
            </a:r>
            <a:r>
              <a:rPr lang="ko-KR" altLang="en-US" sz="1000" spc="-5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이용해</a:t>
            </a:r>
            <a:r>
              <a:rPr lang="ko-KR" altLang="en-US" sz="1000" spc="-5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업무를</a:t>
            </a:r>
            <a:r>
              <a:rPr lang="ko-KR" altLang="en-US" sz="1000" spc="-5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시작하기</a:t>
            </a:r>
            <a:r>
              <a:rPr lang="ko-KR" altLang="en-US" sz="1000" spc="-5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전</a:t>
            </a:r>
            <a:r>
              <a:rPr lang="ko-KR" altLang="en-US" sz="1000" spc="-5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또는</a:t>
            </a:r>
            <a:r>
              <a:rPr lang="ko-KR" altLang="en-US" sz="1000" spc="-5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주기적인</a:t>
            </a:r>
            <a:r>
              <a:rPr lang="ko-KR" altLang="en-US" sz="1000" spc="-5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시점에</a:t>
            </a:r>
            <a:r>
              <a:rPr lang="ko-KR" altLang="en-US" sz="1000" spc="-5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필수</a:t>
            </a:r>
            <a:r>
              <a:rPr lang="ko-KR" altLang="en-US" sz="1000" spc="-5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보안</a:t>
            </a:r>
            <a:r>
              <a:rPr lang="ko-KR" altLang="en-US" sz="1000" spc="-5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지침을</a:t>
            </a:r>
            <a:r>
              <a:rPr lang="ko-KR" altLang="en-US" sz="1000" spc="-5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확인하고</a:t>
            </a:r>
            <a:r>
              <a:rPr lang="ko-KR" altLang="en-US" sz="1000" spc="-5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서약할</a:t>
            </a:r>
            <a:r>
              <a:rPr lang="ko-KR" altLang="en-US" sz="1000" spc="-5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수</a:t>
            </a:r>
            <a:r>
              <a:rPr lang="ko-KR" altLang="en-US" sz="1000" spc="-5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있도록</a:t>
            </a:r>
            <a:r>
              <a:rPr lang="ko-KR" altLang="en-US" sz="1000" spc="-5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제어하는</a:t>
            </a:r>
            <a:r>
              <a:rPr lang="ko-KR" altLang="en-US"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en-US" altLang="ko-KR" sz="1000" spc="-3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ucida Sans"/>
              </a:rPr>
              <a:t>Lockdown</a:t>
            </a:r>
            <a:r>
              <a:rPr lang="ko-KR" altLang="en-US"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방식의</a:t>
            </a:r>
            <a:r>
              <a:rPr lang="ko-KR" altLang="en-US"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윈도우</a:t>
            </a:r>
            <a:r>
              <a:rPr lang="ko-KR" altLang="en-US"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스크립트</a:t>
            </a:r>
            <a:r>
              <a:rPr lang="ko-KR" altLang="en-US"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기반</a:t>
            </a:r>
            <a:r>
              <a:rPr lang="ko-KR" altLang="en-US"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클라이언트와</a:t>
            </a:r>
            <a:r>
              <a:rPr lang="ko-KR" altLang="en-US"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이를</a:t>
            </a:r>
            <a:r>
              <a:rPr lang="ko-KR" altLang="en-US"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중앙</a:t>
            </a:r>
            <a:r>
              <a:rPr lang="ko-KR" altLang="en-US"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제어하는</a:t>
            </a:r>
            <a:r>
              <a:rPr lang="ko-KR" altLang="en-US"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백엔드</a:t>
            </a:r>
            <a:r>
              <a:rPr lang="ko-KR" altLang="en-US"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시스템으로</a:t>
            </a:r>
            <a:r>
              <a:rPr lang="ko-KR" altLang="en-US"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구성됩니다</a:t>
            </a:r>
            <a:r>
              <a:rPr lang="en-US" altLang="ko-KR"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.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8936DF5-4489-4DA3-B7F4-C4A95F5721F1}"/>
              </a:ext>
            </a:extLst>
          </p:cNvPr>
          <p:cNvGrpSpPr/>
          <p:nvPr/>
        </p:nvGrpSpPr>
        <p:grpSpPr>
          <a:xfrm>
            <a:off x="505073" y="7047441"/>
            <a:ext cx="6410574" cy="400050"/>
            <a:chOff x="533400" y="709250"/>
            <a:chExt cx="6410574" cy="400050"/>
          </a:xfrm>
        </p:grpSpPr>
        <p:sp>
          <p:nvSpPr>
            <p:cNvPr id="21" name="bg object 16">
              <a:extLst>
                <a:ext uri="{FF2B5EF4-FFF2-40B4-BE49-F238E27FC236}">
                  <a16:creationId xmlns:a16="http://schemas.microsoft.com/office/drawing/2014/main" id="{A3654D84-7185-4F48-8891-111EEE1C08C9}"/>
                </a:ext>
              </a:extLst>
            </p:cNvPr>
            <p:cNvSpPr/>
            <p:nvPr/>
          </p:nvSpPr>
          <p:spPr>
            <a:xfrm>
              <a:off x="616199" y="709250"/>
              <a:ext cx="6327775" cy="400050"/>
            </a:xfrm>
            <a:custGeom>
              <a:avLst/>
              <a:gdLst/>
              <a:ahLst/>
              <a:cxnLst/>
              <a:rect l="l" t="t" r="r" b="b"/>
              <a:pathLst>
                <a:path w="6327775" h="400050">
                  <a:moveTo>
                    <a:pt x="6327600" y="400050"/>
                  </a:moveTo>
                  <a:lnTo>
                    <a:pt x="0" y="400050"/>
                  </a:lnTo>
                  <a:lnTo>
                    <a:pt x="0" y="0"/>
                  </a:lnTo>
                  <a:lnTo>
                    <a:pt x="6327600" y="0"/>
                  </a:lnTo>
                  <a:lnTo>
                    <a:pt x="6327600" y="400050"/>
                  </a:lnTo>
                  <a:close/>
                </a:path>
              </a:pathLst>
            </a:custGeom>
            <a:solidFill>
              <a:srgbClr val="EFF4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bg object 17">
              <a:extLst>
                <a:ext uri="{FF2B5EF4-FFF2-40B4-BE49-F238E27FC236}">
                  <a16:creationId xmlns:a16="http://schemas.microsoft.com/office/drawing/2014/main" id="{26B9C77F-8AEB-4E41-9C18-25DAAFFD226A}"/>
                </a:ext>
              </a:extLst>
            </p:cNvPr>
            <p:cNvSpPr/>
            <p:nvPr/>
          </p:nvSpPr>
          <p:spPr>
            <a:xfrm>
              <a:off x="616199" y="709250"/>
              <a:ext cx="47625" cy="400050"/>
            </a:xfrm>
            <a:custGeom>
              <a:avLst/>
              <a:gdLst/>
              <a:ahLst/>
              <a:cxnLst/>
              <a:rect l="l" t="t" r="r" b="b"/>
              <a:pathLst>
                <a:path w="47625" h="400050">
                  <a:moveTo>
                    <a:pt x="47625" y="400050"/>
                  </a:moveTo>
                  <a:lnTo>
                    <a:pt x="0" y="400050"/>
                  </a:lnTo>
                  <a:lnTo>
                    <a:pt x="0" y="0"/>
                  </a:lnTo>
                  <a:lnTo>
                    <a:pt x="47625" y="0"/>
                  </a:lnTo>
                  <a:lnTo>
                    <a:pt x="47625" y="400050"/>
                  </a:lnTo>
                  <a:close/>
                </a:path>
              </a:pathLst>
            </a:custGeom>
            <a:solidFill>
              <a:srgbClr val="004B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251D0F8-665A-4AD1-9FDA-FD812EB4AF56}"/>
                </a:ext>
              </a:extLst>
            </p:cNvPr>
            <p:cNvSpPr txBox="1"/>
            <p:nvPr/>
          </p:nvSpPr>
          <p:spPr>
            <a:xfrm>
              <a:off x="533400" y="739998"/>
              <a:ext cx="37782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55575">
                <a:lnSpc>
                  <a:spcPct val="100000"/>
                </a:lnSpc>
              </a:pPr>
              <a:r>
                <a:rPr lang="en-US" altLang="ko-KR" sz="1600" b="1" spc="50" dirty="0">
                  <a:solidFill>
                    <a:srgbClr val="004B9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Malgun Gothic"/>
                </a:rPr>
                <a:t>3. </a:t>
              </a:r>
              <a:r>
                <a:rPr lang="ko-KR" altLang="en-US" sz="1600" b="1" spc="50" dirty="0">
                  <a:solidFill>
                    <a:srgbClr val="004B9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Malgun Gothic"/>
                </a:rPr>
                <a:t>대상</a:t>
              </a:r>
              <a:r>
                <a:rPr lang="en-US" altLang="ko-KR" sz="1600" b="1" spc="50" dirty="0">
                  <a:solidFill>
                    <a:srgbClr val="004B9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Malgun Gothic"/>
                </a:rPr>
                <a:t> </a:t>
              </a:r>
              <a:r>
                <a:rPr lang="ko-KR" altLang="en-US" sz="1600" b="1" spc="50" dirty="0">
                  <a:solidFill>
                    <a:srgbClr val="004B9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Malgun Gothic"/>
                </a:rPr>
                <a:t>환경 및 요구사항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endParaRPr>
            </a:p>
          </p:txBody>
        </p:sp>
      </p:grpSp>
      <p:sp>
        <p:nvSpPr>
          <p:cNvPr id="25" name="object 7">
            <a:extLst>
              <a:ext uri="{FF2B5EF4-FFF2-40B4-BE49-F238E27FC236}">
                <a16:creationId xmlns:a16="http://schemas.microsoft.com/office/drawing/2014/main" id="{1BABC39A-8B2C-4735-A5E5-77E0DC6CDF15}"/>
              </a:ext>
            </a:extLst>
          </p:cNvPr>
          <p:cNvSpPr txBox="1"/>
          <p:nvPr/>
        </p:nvSpPr>
        <p:spPr>
          <a:xfrm>
            <a:off x="575171" y="7708558"/>
            <a:ext cx="6353175" cy="10770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4480" lvl="1" indent="-271780">
              <a:lnSpc>
                <a:spcPct val="100000"/>
              </a:lnSpc>
              <a:spcBef>
                <a:spcPts val="1575"/>
              </a:spcBef>
              <a:buAutoNum type="arabicPeriod"/>
              <a:tabLst>
                <a:tab pos="284480" algn="l"/>
              </a:tabLst>
            </a:pPr>
            <a:r>
              <a:rPr lang="ko-KR" altLang="en-US" sz="1200" b="1" spc="-10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운영체제</a:t>
            </a:r>
            <a:r>
              <a:rPr lang="en-US" altLang="ko-KR" sz="1200" b="1" spc="-10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(OS) </a:t>
            </a:r>
            <a:r>
              <a:rPr lang="ko-KR" altLang="en-US" sz="1200" b="1" spc="-10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및 지원범위</a:t>
            </a:r>
            <a:endParaRPr sz="1200" dirty="0"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  <a:p>
            <a:pPr marL="203200" marR="97790" lvl="2" indent="-71755">
              <a:lnSpc>
                <a:spcPct val="133300"/>
              </a:lnSpc>
              <a:spcBef>
                <a:spcPts val="375"/>
              </a:spcBef>
              <a:buFont typeface="Malgun Gothic"/>
              <a:buChar char="•"/>
              <a:tabLst>
                <a:tab pos="203200" algn="l"/>
              </a:tabLst>
            </a:pPr>
            <a:r>
              <a:rPr lang="ko-KR" altLang="en-US" sz="1000" b="1" dirty="0"/>
              <a:t> 표준 지원 사양</a:t>
            </a:r>
            <a:r>
              <a:rPr lang="en-US" altLang="ko-KR" sz="1000" b="1" dirty="0"/>
              <a:t>:</a:t>
            </a:r>
            <a:r>
              <a:rPr lang="ko-KR" altLang="en-US" sz="1000" dirty="0"/>
              <a:t> </a:t>
            </a:r>
            <a:r>
              <a:rPr lang="en-US" altLang="ko-KR" sz="1000" dirty="0"/>
              <a:t>Microsoft Windows 10 / 11 (64bit)</a:t>
            </a:r>
          </a:p>
          <a:p>
            <a:pPr marL="284480" lvl="1" indent="-271780">
              <a:lnSpc>
                <a:spcPct val="100000"/>
              </a:lnSpc>
              <a:spcBef>
                <a:spcPts val="1575"/>
              </a:spcBef>
              <a:buAutoNum type="arabicPeriod"/>
              <a:tabLst>
                <a:tab pos="284480" algn="l"/>
              </a:tabLst>
            </a:pPr>
            <a:r>
              <a:rPr lang="ko-KR" altLang="en-US" sz="1200" b="1" spc="-10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네트워크 환경 </a:t>
            </a:r>
            <a:r>
              <a:rPr lang="en-US" altLang="ko-KR" sz="1200" b="1" spc="-10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(Network)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  <a:p>
            <a:pPr marL="203200" marR="97790" lvl="2" indent="-71755">
              <a:lnSpc>
                <a:spcPct val="133300"/>
              </a:lnSpc>
              <a:spcBef>
                <a:spcPts val="375"/>
              </a:spcBef>
              <a:buFont typeface="Malgun Gothic"/>
              <a:buChar char="•"/>
              <a:tabLst>
                <a:tab pos="203200" algn="l"/>
              </a:tabLst>
            </a:pPr>
            <a:r>
              <a:rPr lang="ko-KR" altLang="en-US" sz="1000" b="1" dirty="0"/>
              <a:t> 대상 인프라</a:t>
            </a:r>
            <a:r>
              <a:rPr lang="en-US" altLang="ko-KR" sz="1000" b="1" dirty="0"/>
              <a:t>:</a:t>
            </a:r>
            <a:r>
              <a:rPr lang="ko-KR" altLang="en-US" sz="1000" dirty="0"/>
              <a:t> 사내 </a:t>
            </a:r>
            <a:r>
              <a:rPr lang="ko-KR" altLang="en-US" sz="1000" dirty="0" err="1"/>
              <a:t>업무망</a:t>
            </a:r>
            <a:r>
              <a:rPr lang="ko-KR" altLang="en-US" sz="1000" dirty="0"/>
              <a:t> </a:t>
            </a:r>
            <a:r>
              <a:rPr lang="en-US" altLang="ko-KR" sz="1000" dirty="0"/>
              <a:t>PC </a:t>
            </a:r>
            <a:r>
              <a:rPr lang="ko-KR" altLang="en-US" sz="1000" dirty="0"/>
              <a:t>전용 </a:t>
            </a:r>
            <a:r>
              <a:rPr lang="en-US" altLang="ko-KR" sz="1000" dirty="0"/>
              <a:t>(Intranet Only)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6199" y="1540106"/>
            <a:ext cx="6327775" cy="0"/>
          </a:xfrm>
          <a:custGeom>
            <a:avLst/>
            <a:gdLst/>
            <a:ahLst/>
            <a:cxnLst/>
            <a:rect l="l" t="t" r="r" b="b"/>
            <a:pathLst>
              <a:path w="6327775">
                <a:moveTo>
                  <a:pt x="0" y="0"/>
                </a:moveTo>
                <a:lnTo>
                  <a:pt x="6327601" y="0"/>
                </a:lnTo>
              </a:path>
            </a:pathLst>
          </a:custGeom>
          <a:ln w="9525">
            <a:solidFill>
              <a:srgbClr val="CCCCCC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16199" y="3441700"/>
            <a:ext cx="6327775" cy="0"/>
          </a:xfrm>
          <a:custGeom>
            <a:avLst/>
            <a:gdLst/>
            <a:ahLst/>
            <a:cxnLst/>
            <a:rect l="l" t="t" r="r" b="b"/>
            <a:pathLst>
              <a:path w="6327775">
                <a:moveTo>
                  <a:pt x="0" y="0"/>
                </a:moveTo>
                <a:lnTo>
                  <a:pt x="6327601" y="0"/>
                </a:lnTo>
              </a:path>
            </a:pathLst>
          </a:custGeom>
          <a:ln w="9525">
            <a:solidFill>
              <a:srgbClr val="CCCCCC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609846" y="4813301"/>
            <a:ext cx="6327775" cy="1676400"/>
            <a:chOff x="616199" y="4787588"/>
            <a:chExt cx="6327775" cy="2032635"/>
          </a:xfrm>
        </p:grpSpPr>
        <p:sp>
          <p:nvSpPr>
            <p:cNvPr id="5" name="object 5"/>
            <p:cNvSpPr/>
            <p:nvPr/>
          </p:nvSpPr>
          <p:spPr>
            <a:xfrm>
              <a:off x="616199" y="4787588"/>
              <a:ext cx="6327775" cy="2032635"/>
            </a:xfrm>
            <a:custGeom>
              <a:avLst/>
              <a:gdLst/>
              <a:ahLst/>
              <a:cxnLst/>
              <a:rect l="l" t="t" r="r" b="b"/>
              <a:pathLst>
                <a:path w="6327775" h="2032634">
                  <a:moveTo>
                    <a:pt x="6327600" y="2032044"/>
                  </a:moveTo>
                  <a:lnTo>
                    <a:pt x="0" y="2032044"/>
                  </a:lnTo>
                  <a:lnTo>
                    <a:pt x="0" y="0"/>
                  </a:lnTo>
                  <a:lnTo>
                    <a:pt x="6327600" y="0"/>
                  </a:lnTo>
                  <a:lnTo>
                    <a:pt x="6327600" y="2032044"/>
                  </a:lnTo>
                  <a:close/>
                </a:path>
              </a:pathLst>
            </a:custGeom>
            <a:solidFill>
              <a:srgbClr val="F6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6199" y="4787588"/>
              <a:ext cx="38100" cy="2032635"/>
            </a:xfrm>
            <a:custGeom>
              <a:avLst/>
              <a:gdLst/>
              <a:ahLst/>
              <a:cxnLst/>
              <a:rect l="l" t="t" r="r" b="b"/>
              <a:pathLst>
                <a:path w="38100" h="2032634">
                  <a:moveTo>
                    <a:pt x="38100" y="2032044"/>
                  </a:moveTo>
                  <a:lnTo>
                    <a:pt x="0" y="2032044"/>
                  </a:lnTo>
                  <a:lnTo>
                    <a:pt x="0" y="0"/>
                  </a:lnTo>
                  <a:lnTo>
                    <a:pt x="38100" y="0"/>
                  </a:lnTo>
                  <a:lnTo>
                    <a:pt x="38100" y="2032044"/>
                  </a:lnTo>
                  <a:close/>
                </a:path>
              </a:pathLst>
            </a:custGeom>
            <a:solidFill>
              <a:srgbClr val="FFB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7174" y="4928035"/>
              <a:ext cx="159597" cy="15020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03497" y="1260357"/>
            <a:ext cx="6340475" cy="31777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4480" lvl="1" indent="-271780">
              <a:lnSpc>
                <a:spcPct val="100000"/>
              </a:lnSpc>
              <a:spcBef>
                <a:spcPts val="2030"/>
              </a:spcBef>
              <a:buClr>
                <a:srgbClr val="333333"/>
              </a:buClr>
              <a:buFont typeface="Malgun Gothic"/>
              <a:buAutoNum type="arabicPeriod"/>
              <a:tabLst>
                <a:tab pos="284480" algn="l"/>
              </a:tabLst>
            </a:pPr>
            <a:r>
              <a:rPr sz="1200" b="1" spc="-105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연동</a:t>
            </a:r>
            <a:r>
              <a:rPr sz="1200" b="1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200" b="1" spc="-10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및</a:t>
            </a:r>
            <a:r>
              <a:rPr sz="1200" b="1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200" b="1" spc="-10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데이터</a:t>
            </a:r>
            <a:r>
              <a:rPr sz="1200" b="1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200" b="1" spc="-10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수집</a:t>
            </a:r>
            <a:r>
              <a:rPr sz="1200" b="1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200" b="1" spc="-100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요구사항</a:t>
            </a:r>
            <a:r>
              <a:rPr sz="1200" b="1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200" b="1" spc="-114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(</a:t>
            </a:r>
            <a:r>
              <a:rPr lang="en-US" sz="1200" b="1" spc="-114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200" b="1" spc="-114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 Black"/>
              </a:rPr>
              <a:t>SSO</a:t>
            </a:r>
            <a:r>
              <a:rPr sz="1200" b="1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 Black"/>
              </a:rPr>
              <a:t> </a:t>
            </a:r>
            <a:r>
              <a:rPr sz="1200" b="1" spc="-1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 Black"/>
              </a:rPr>
              <a:t>&amp;</a:t>
            </a:r>
            <a:r>
              <a:rPr sz="1200" b="1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 Black"/>
              </a:rPr>
              <a:t> </a:t>
            </a:r>
            <a:r>
              <a:rPr sz="1200" b="1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 Black"/>
              </a:rPr>
              <a:t>Client</a:t>
            </a:r>
            <a:r>
              <a:rPr sz="1200" b="1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 Black"/>
              </a:rPr>
              <a:t> </a:t>
            </a:r>
            <a:r>
              <a:rPr sz="1200" b="1" spc="-1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 Black"/>
              </a:rPr>
              <a:t>Info</a:t>
            </a:r>
            <a:r>
              <a:rPr lang="en-US" sz="1200" b="1" spc="-1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 Black"/>
              </a:rPr>
              <a:t> </a:t>
            </a:r>
            <a:r>
              <a:rPr sz="1200" b="1" spc="-1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)</a:t>
            </a:r>
            <a:endParaRPr sz="1200" b="1" dirty="0"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사용자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편의성을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극대화하고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동의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주체를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명확히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하기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위해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별도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로그인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없이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인프라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정보를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자동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10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수집합니다</a:t>
            </a:r>
            <a:r>
              <a:rPr sz="1000" spc="-1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.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  <a:p>
            <a:pPr marL="203200" marR="58419" lvl="2" indent="-71755">
              <a:lnSpc>
                <a:spcPct val="139800"/>
              </a:lnSpc>
              <a:spcBef>
                <a:spcPts val="675"/>
              </a:spcBef>
              <a:buClr>
                <a:srgbClr val="333333"/>
              </a:buClr>
              <a:buSzPct val="125000"/>
              <a:buFont typeface="Malgun Gothic"/>
              <a:buChar char="•"/>
              <a:tabLst>
                <a:tab pos="203200" algn="l"/>
                <a:tab pos="259715" algn="l"/>
              </a:tabLst>
            </a:pPr>
            <a:r>
              <a:rPr lang="en-US" sz="1000" b="1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b="1" spc="-80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사내</a:t>
            </a:r>
            <a:r>
              <a:rPr sz="1000" b="1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b="1" spc="-14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 Black"/>
              </a:rPr>
              <a:t>SSO</a:t>
            </a:r>
            <a:r>
              <a:rPr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 Black"/>
              </a:rPr>
              <a:t> </a:t>
            </a:r>
            <a:r>
              <a:rPr sz="1000" b="1" spc="-4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연동:</a:t>
            </a:r>
            <a:r>
              <a:rPr sz="1000" b="1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단말에</a:t>
            </a:r>
            <a:r>
              <a:rPr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로그인된</a:t>
            </a:r>
            <a:r>
              <a:rPr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사용자의</a:t>
            </a:r>
            <a:r>
              <a:rPr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4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사번,</a:t>
            </a:r>
            <a:r>
              <a:rPr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이름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정보를</a:t>
            </a:r>
            <a:r>
              <a:rPr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내부</a:t>
            </a:r>
            <a:r>
              <a:rPr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ucida Sans"/>
              </a:rPr>
              <a:t>SSO</a:t>
            </a:r>
            <a:r>
              <a:rPr sz="1000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ucida Sans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인프라</a:t>
            </a:r>
            <a:r>
              <a:rPr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토큰</a:t>
            </a:r>
            <a:r>
              <a:rPr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또는</a:t>
            </a:r>
            <a:r>
              <a:rPr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환경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변수를</a:t>
            </a:r>
            <a:r>
              <a:rPr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통해</a:t>
            </a:r>
            <a:r>
              <a:rPr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50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안</a:t>
            </a:r>
            <a:r>
              <a:rPr sz="1000" spc="-85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전하게</a:t>
            </a:r>
            <a:r>
              <a:rPr sz="1000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1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획득합니다.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  <a:p>
            <a:pPr marL="259715" lvl="2" indent="-128270">
              <a:lnSpc>
                <a:spcPct val="100000"/>
              </a:lnSpc>
              <a:spcBef>
                <a:spcPts val="775"/>
              </a:spcBef>
              <a:buClr>
                <a:srgbClr val="333333"/>
              </a:buClr>
              <a:buSzPct val="125000"/>
              <a:buFont typeface="Malgun Gothic"/>
              <a:buChar char="•"/>
              <a:tabLst>
                <a:tab pos="259715" algn="l"/>
              </a:tabLst>
            </a:pPr>
            <a:r>
              <a:rPr sz="1000" b="1" spc="-12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 Black"/>
              </a:rPr>
              <a:t>PC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 Black"/>
              </a:rPr>
              <a:t> </a:t>
            </a:r>
            <a:r>
              <a:rPr sz="1000" b="1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단말</a:t>
            </a:r>
            <a:r>
              <a:rPr sz="1000" b="1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b="1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정보</a:t>
            </a:r>
            <a:r>
              <a:rPr sz="1000" b="1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b="1" spc="-4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추출:</a:t>
            </a:r>
            <a:r>
              <a:rPr sz="1000" b="1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서약이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이루어진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컴퓨터의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고유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식별을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위해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ucida Sans"/>
              </a:rPr>
              <a:t>PC</a:t>
            </a:r>
            <a:r>
              <a:rPr sz="1000" spc="-5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ucida Sans"/>
              </a:rPr>
              <a:t> </a:t>
            </a:r>
            <a:r>
              <a:rPr sz="1000" spc="-4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호스트명(</a:t>
            </a:r>
            <a:r>
              <a:rPr sz="1000" spc="-4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ucida Sans"/>
              </a:rPr>
              <a:t>Host</a:t>
            </a:r>
            <a:r>
              <a:rPr sz="1000" spc="-5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ucida Sans"/>
              </a:rPr>
              <a:t> </a:t>
            </a:r>
            <a:r>
              <a:rPr sz="100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ucida Sans"/>
              </a:rPr>
              <a:t>Name</a:t>
            </a:r>
            <a:r>
              <a:rPr sz="100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),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5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ucida Sans"/>
              </a:rPr>
              <a:t>IP</a:t>
            </a:r>
            <a:r>
              <a:rPr sz="1000" spc="-5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ucida Sans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주소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및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2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ucida Sans"/>
              </a:rPr>
              <a:t>MAC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  <a:cs typeface="Lucida Sans"/>
            </a:endParaRPr>
          </a:p>
          <a:p>
            <a:pPr marL="203200">
              <a:lnSpc>
                <a:spcPct val="100000"/>
              </a:lnSpc>
              <a:spcBef>
                <a:spcPts val="475"/>
              </a:spcBef>
            </a:pPr>
            <a:r>
              <a:rPr sz="1000" spc="-85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주소</a:t>
            </a:r>
            <a:r>
              <a:rPr lang="en-US"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등을</a:t>
            </a:r>
            <a:r>
              <a:rPr sz="1000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자동으로</a:t>
            </a:r>
            <a:r>
              <a:rPr sz="1000" spc="-5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1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추출합니다.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  <a:p>
            <a:pPr marL="203200" marR="10795" lvl="2" indent="-71755">
              <a:lnSpc>
                <a:spcPct val="139800"/>
              </a:lnSpc>
              <a:spcBef>
                <a:spcPts val="295"/>
              </a:spcBef>
              <a:buClr>
                <a:srgbClr val="333333"/>
              </a:buClr>
              <a:buSzPct val="125000"/>
              <a:buFont typeface="Malgun Gothic"/>
              <a:buChar char="•"/>
              <a:tabLst>
                <a:tab pos="203200" algn="l"/>
                <a:tab pos="259715" algn="l"/>
              </a:tabLst>
            </a:pPr>
            <a:r>
              <a:rPr lang="en-US" sz="1000" b="1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b="1" spc="-85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데이터</a:t>
            </a:r>
            <a:r>
              <a:rPr sz="1000" b="1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b="1" spc="-5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전송</a:t>
            </a:r>
            <a:r>
              <a:rPr sz="1000" b="1" spc="-5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:</a:t>
            </a:r>
            <a:r>
              <a:rPr sz="1000" b="1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수집된</a:t>
            </a:r>
            <a:r>
              <a:rPr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5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정보(사번,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4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이름,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3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ucida Sans"/>
              </a:rPr>
              <a:t>PC</a:t>
            </a:r>
            <a:r>
              <a:rPr sz="1000" spc="-3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정보,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동의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시간)를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하나의</a:t>
            </a:r>
            <a:r>
              <a:rPr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트랜잭션으로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묶어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전송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데이터</a:t>
            </a:r>
            <a:r>
              <a:rPr lang="ko-KR" altLang="en-US" sz="1000" spc="-85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를</a:t>
            </a:r>
            <a:r>
              <a:rPr lang="ko-KR" altLang="en-US"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전송</a:t>
            </a:r>
            <a:r>
              <a:rPr sz="1000" spc="-20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합니</a:t>
            </a:r>
            <a:r>
              <a:rPr lang="ko-KR" altLang="en-US" sz="1000" spc="-2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다</a:t>
            </a:r>
            <a:r>
              <a:rPr sz="1000" spc="-2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.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  <a:p>
            <a:pPr marL="284480" lvl="1" indent="-271780">
              <a:lnSpc>
                <a:spcPct val="100000"/>
              </a:lnSpc>
              <a:spcBef>
                <a:spcPts val="1575"/>
              </a:spcBef>
              <a:buClr>
                <a:srgbClr val="333333"/>
              </a:buClr>
              <a:buFont typeface="Malgun Gothic"/>
              <a:buAutoNum type="arabicPeriod" startAt="2"/>
              <a:tabLst>
                <a:tab pos="284480" algn="l"/>
              </a:tabLst>
            </a:pPr>
            <a:r>
              <a:rPr sz="1200" b="1" spc="-10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데이터</a:t>
            </a:r>
            <a:r>
              <a:rPr sz="1200" b="1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200" b="1" spc="-10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전송</a:t>
            </a:r>
            <a:r>
              <a:rPr sz="1200" b="1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200" b="1" spc="-10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및</a:t>
            </a:r>
            <a:r>
              <a:rPr sz="1200" b="1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200" b="1" spc="-10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임시</a:t>
            </a:r>
            <a:r>
              <a:rPr sz="1200" b="1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200" b="1" spc="-9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 Black"/>
              </a:rPr>
              <a:t>DB</a:t>
            </a:r>
            <a:r>
              <a:rPr sz="1200" b="1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 Black"/>
              </a:rPr>
              <a:t> </a:t>
            </a:r>
            <a:r>
              <a:rPr sz="1200" b="1" spc="-105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검증</a:t>
            </a:r>
            <a:r>
              <a:rPr sz="1200" b="1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200" b="1" spc="-20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요구사항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  <a:p>
            <a:pPr marL="203200" marR="44450" lvl="2" indent="-71755">
              <a:lnSpc>
                <a:spcPct val="139800"/>
              </a:lnSpc>
              <a:spcBef>
                <a:spcPts val="855"/>
              </a:spcBef>
              <a:buClr>
                <a:srgbClr val="333333"/>
              </a:buClr>
              <a:buSzPct val="125000"/>
              <a:buFont typeface="Malgun Gothic"/>
              <a:buChar char="•"/>
              <a:tabLst>
                <a:tab pos="203200" algn="l"/>
                <a:tab pos="259715" algn="l"/>
              </a:tabLst>
            </a:pPr>
            <a:r>
              <a:rPr sz="1000" b="1" spc="-80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동의</a:t>
            </a:r>
            <a:r>
              <a:rPr sz="1000" b="1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b="1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로그</a:t>
            </a:r>
            <a:r>
              <a:rPr sz="1000" b="1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b="1" spc="-4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전송:</a:t>
            </a:r>
            <a:r>
              <a:rPr sz="1000" b="1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사용자가</a:t>
            </a:r>
            <a:r>
              <a:rPr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5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'확인</a:t>
            </a:r>
            <a:r>
              <a:rPr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및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업무</a:t>
            </a:r>
            <a:r>
              <a:rPr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5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시작'</a:t>
            </a:r>
            <a:r>
              <a:rPr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버튼을</a:t>
            </a:r>
            <a:r>
              <a:rPr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누르면</a:t>
            </a:r>
            <a:r>
              <a:rPr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2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ucida Sans"/>
              </a:rPr>
              <a:t>REST</a:t>
            </a:r>
            <a:r>
              <a:rPr sz="1000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ucida Sans"/>
              </a:rPr>
              <a:t> </a:t>
            </a:r>
            <a:r>
              <a:rPr sz="1000" spc="-1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ucida Sans"/>
              </a:rPr>
              <a:t>API</a:t>
            </a:r>
            <a:r>
              <a:rPr sz="1000" spc="-1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를</a:t>
            </a:r>
            <a:r>
              <a:rPr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통해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백엔드로</a:t>
            </a:r>
            <a:r>
              <a:rPr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데이터가</a:t>
            </a:r>
            <a:r>
              <a:rPr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즉시</a:t>
            </a:r>
            <a:r>
              <a:rPr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25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전송되</a:t>
            </a:r>
            <a:r>
              <a:rPr sz="1000" spc="-80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어야</a:t>
            </a:r>
            <a:r>
              <a:rPr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2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합니다.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  <a:p>
            <a:pPr marL="259715" lvl="2" indent="-128270">
              <a:lnSpc>
                <a:spcPct val="100000"/>
              </a:lnSpc>
              <a:spcBef>
                <a:spcPts val="775"/>
              </a:spcBef>
              <a:buClr>
                <a:srgbClr val="333333"/>
              </a:buClr>
              <a:buSzPct val="125000"/>
              <a:buFont typeface="Malgun Gothic"/>
              <a:buChar char="•"/>
              <a:tabLst>
                <a:tab pos="259715" algn="l"/>
              </a:tabLst>
            </a:pPr>
            <a:r>
              <a:rPr sz="1000" b="1" spc="-80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임시</a:t>
            </a:r>
            <a:r>
              <a:rPr sz="1000" b="1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b="1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 Black"/>
              </a:rPr>
              <a:t>DB </a:t>
            </a:r>
            <a:r>
              <a:rPr sz="1000" b="1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환경</a:t>
            </a:r>
            <a:r>
              <a:rPr sz="1000" b="1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b="1" spc="-4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구축:</a:t>
            </a:r>
            <a:r>
              <a:rPr sz="1000" b="1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본</a:t>
            </a:r>
            <a:r>
              <a:rPr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개발</a:t>
            </a:r>
            <a:r>
              <a:rPr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및</a:t>
            </a:r>
            <a:r>
              <a:rPr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인프라</a:t>
            </a:r>
            <a:r>
              <a:rPr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이관</a:t>
            </a:r>
            <a:r>
              <a:rPr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2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전,</a:t>
            </a:r>
            <a:r>
              <a:rPr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연동</a:t>
            </a:r>
            <a:r>
              <a:rPr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신뢰성</a:t>
            </a:r>
            <a:r>
              <a:rPr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테스트를</a:t>
            </a:r>
            <a:r>
              <a:rPr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수행할</a:t>
            </a:r>
            <a:r>
              <a:rPr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수</a:t>
            </a:r>
            <a:r>
              <a:rPr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있도록</a:t>
            </a:r>
            <a:r>
              <a:rPr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간이</a:t>
            </a:r>
            <a:r>
              <a:rPr sz="1000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1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데이터베이스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  <a:p>
            <a:pPr marL="203200">
              <a:lnSpc>
                <a:spcPct val="100000"/>
              </a:lnSpc>
              <a:spcBef>
                <a:spcPts val="475"/>
              </a:spcBef>
              <a:tabLst>
                <a:tab pos="3072765" algn="l"/>
              </a:tabLst>
            </a:pPr>
            <a:r>
              <a:rPr sz="1000" spc="-1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ucida Sans"/>
              </a:rPr>
              <a:t>(SQLite</a:t>
            </a:r>
            <a:r>
              <a:rPr sz="1000" spc="-5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ucida Sans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혹은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로컬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개발용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2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ucida Sans"/>
              </a:rPr>
              <a:t>DB)</a:t>
            </a:r>
            <a:r>
              <a:rPr sz="1000" spc="-2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를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구축하여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20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스키마를</a:t>
            </a:r>
            <a:r>
              <a:rPr lang="en-US" sz="1000" spc="-2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검</a:t>
            </a:r>
            <a:r>
              <a:rPr sz="1000" spc="-20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증합니다</a:t>
            </a:r>
            <a:r>
              <a:rPr sz="1000" spc="-2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.</a:t>
            </a:r>
            <a:endParaRPr lang="ko-KR" altLang="en-US" sz="1000" spc="-20" dirty="0">
              <a:solidFill>
                <a:srgbClr val="333333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88836" y="289999"/>
            <a:ext cx="5441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70" dirty="0">
                <a:solidFill>
                  <a:srgbClr val="878787"/>
                </a:solidFill>
                <a:latin typeface="Malgun Gothic"/>
                <a:cs typeface="Malgun Gothic"/>
              </a:rPr>
              <a:t>페이지</a:t>
            </a:r>
            <a:r>
              <a:rPr sz="800" spc="-5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800" dirty="0">
                <a:solidFill>
                  <a:srgbClr val="878787"/>
                </a:solidFill>
                <a:latin typeface="Malgun Gothic"/>
                <a:cs typeface="Malgun Gothic"/>
              </a:rPr>
              <a:t>3</a:t>
            </a:r>
            <a:r>
              <a:rPr sz="800" spc="-5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800" dirty="0">
                <a:solidFill>
                  <a:srgbClr val="878787"/>
                </a:solidFill>
                <a:latin typeface="Malgun Gothic"/>
                <a:cs typeface="Malgun Gothic"/>
              </a:rPr>
              <a:t>/</a:t>
            </a:r>
            <a:r>
              <a:rPr sz="800" spc="-50" dirty="0">
                <a:solidFill>
                  <a:srgbClr val="878787"/>
                </a:solidFill>
                <a:latin typeface="Malgun Gothic"/>
                <a:cs typeface="Malgun Gothic"/>
              </a:rPr>
              <a:t> 5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18" name="object 10">
            <a:extLst>
              <a:ext uri="{FF2B5EF4-FFF2-40B4-BE49-F238E27FC236}">
                <a16:creationId xmlns:a16="http://schemas.microsoft.com/office/drawing/2014/main" id="{372E6BFA-A7B7-4ABC-86EF-C51FDB4C041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27298" y="10252557"/>
            <a:ext cx="2717551" cy="142988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pc="-114" dirty="0"/>
              <a:t>KB</a:t>
            </a:r>
            <a:r>
              <a:rPr spc="-25" dirty="0"/>
              <a:t> </a:t>
            </a:r>
            <a:r>
              <a:rPr lang="en-US" spc="-55" dirty="0"/>
              <a:t>Data System</a:t>
            </a:r>
            <a:r>
              <a:rPr spc="-25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60" dirty="0"/>
              <a:t>Compliance</a:t>
            </a:r>
            <a:r>
              <a:rPr spc="-25" dirty="0"/>
              <a:t> </a:t>
            </a:r>
            <a:r>
              <a:rPr lang="en-US" spc="-25" dirty="0"/>
              <a:t>Agreement</a:t>
            </a:r>
            <a:r>
              <a:rPr spc="-25" dirty="0"/>
              <a:t> </a:t>
            </a:r>
            <a:r>
              <a:rPr spc="-30" dirty="0"/>
              <a:t>Project</a:t>
            </a:r>
          </a:p>
        </p:txBody>
      </p:sp>
      <p:sp>
        <p:nvSpPr>
          <p:cNvPr id="33" name="object 14">
            <a:extLst>
              <a:ext uri="{FF2B5EF4-FFF2-40B4-BE49-F238E27FC236}">
                <a16:creationId xmlns:a16="http://schemas.microsoft.com/office/drawing/2014/main" id="{B131F178-F498-43C6-9FE2-54447AA62F8E}"/>
              </a:ext>
            </a:extLst>
          </p:cNvPr>
          <p:cNvSpPr txBox="1"/>
          <p:nvPr/>
        </p:nvSpPr>
        <p:spPr>
          <a:xfrm>
            <a:off x="647946" y="4759960"/>
            <a:ext cx="6340475" cy="15491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0">
              <a:lnSpc>
                <a:spcPct val="100000"/>
              </a:lnSpc>
              <a:spcBef>
                <a:spcPts val="475"/>
              </a:spcBef>
              <a:tabLst>
                <a:tab pos="3072765" algn="l"/>
              </a:tabLst>
            </a:pPr>
            <a:endParaRPr lang="ko-KR" altLang="en-US" sz="1000" spc="-20" dirty="0">
              <a:solidFill>
                <a:srgbClr val="333333"/>
              </a:solidFill>
              <a:latin typeface="+mn-ea"/>
              <a:ea typeface="+mn-ea"/>
              <a:cs typeface="Malgun Gothic"/>
            </a:endParaRPr>
          </a:p>
          <a:p>
            <a:pPr marL="377190">
              <a:lnSpc>
                <a:spcPct val="100000"/>
              </a:lnSpc>
            </a:pPr>
            <a:r>
              <a:rPr lang="ko-KR" altLang="en-US" sz="950" b="1" spc="-80" dirty="0">
                <a:solidFill>
                  <a:srgbClr val="E6A100"/>
                </a:solidFill>
                <a:latin typeface="Malgun Gothic"/>
                <a:cs typeface="Malgun Gothic"/>
              </a:rPr>
              <a:t>데이터베이스</a:t>
            </a:r>
            <a:r>
              <a:rPr lang="ko-KR" altLang="en-US" sz="950" b="1" spc="-55" dirty="0">
                <a:solidFill>
                  <a:srgbClr val="E6A100"/>
                </a:solidFill>
                <a:latin typeface="Malgun Gothic"/>
                <a:cs typeface="Malgun Gothic"/>
              </a:rPr>
              <a:t> </a:t>
            </a:r>
            <a:r>
              <a:rPr lang="ko-KR" altLang="en-US" sz="950" b="1" spc="-80" dirty="0">
                <a:solidFill>
                  <a:srgbClr val="E6A100"/>
                </a:solidFill>
                <a:latin typeface="Malgun Gothic"/>
                <a:cs typeface="Malgun Gothic"/>
              </a:rPr>
              <a:t>테이블</a:t>
            </a:r>
            <a:r>
              <a:rPr lang="ko-KR" altLang="en-US" sz="950" b="1" spc="-50" dirty="0">
                <a:solidFill>
                  <a:srgbClr val="E6A100"/>
                </a:solidFill>
                <a:latin typeface="Malgun Gothic"/>
                <a:cs typeface="Malgun Gothic"/>
              </a:rPr>
              <a:t> </a:t>
            </a:r>
            <a:r>
              <a:rPr lang="ko-KR" altLang="en-US" sz="950" b="1" spc="-85" dirty="0">
                <a:solidFill>
                  <a:srgbClr val="E6A100"/>
                </a:solidFill>
                <a:latin typeface="Malgun Gothic"/>
                <a:cs typeface="Malgun Gothic"/>
              </a:rPr>
              <a:t>설계</a:t>
            </a:r>
            <a:r>
              <a:rPr lang="ko-KR" altLang="en-US" sz="950" b="1" spc="-55" dirty="0">
                <a:solidFill>
                  <a:srgbClr val="E6A100"/>
                </a:solidFill>
                <a:latin typeface="Malgun Gothic"/>
                <a:cs typeface="Malgun Gothic"/>
              </a:rPr>
              <a:t> </a:t>
            </a:r>
            <a:r>
              <a:rPr lang="ko-KR" altLang="en-US" sz="950" b="1" spc="-85" dirty="0">
                <a:solidFill>
                  <a:srgbClr val="E6A100"/>
                </a:solidFill>
                <a:latin typeface="Malgun Gothic"/>
                <a:cs typeface="Malgun Gothic"/>
              </a:rPr>
              <a:t>구조</a:t>
            </a:r>
            <a:r>
              <a:rPr lang="ko-KR" altLang="en-US" sz="950" b="1" spc="-50" dirty="0">
                <a:solidFill>
                  <a:srgbClr val="E6A100"/>
                </a:solidFill>
                <a:latin typeface="Malgun Gothic"/>
                <a:cs typeface="Malgun Gothic"/>
              </a:rPr>
              <a:t> </a:t>
            </a:r>
            <a:r>
              <a:rPr lang="en-US" altLang="ko-KR" sz="950" b="1" spc="-25" dirty="0">
                <a:solidFill>
                  <a:srgbClr val="E6A100"/>
                </a:solidFill>
                <a:latin typeface="Malgun Gothic"/>
                <a:cs typeface="Malgun Gothic"/>
              </a:rPr>
              <a:t>(</a:t>
            </a:r>
            <a:r>
              <a:rPr lang="ko-KR" altLang="en-US" sz="950" b="1" spc="-25" dirty="0">
                <a:solidFill>
                  <a:srgbClr val="E6A100"/>
                </a:solidFill>
                <a:latin typeface="Malgun Gothic"/>
                <a:cs typeface="Malgun Gothic"/>
              </a:rPr>
              <a:t>예시</a:t>
            </a:r>
            <a:r>
              <a:rPr lang="en-US" altLang="ko-KR" sz="950" b="1" spc="-25" dirty="0">
                <a:solidFill>
                  <a:srgbClr val="E6A100"/>
                </a:solidFill>
                <a:latin typeface="Malgun Gothic"/>
                <a:cs typeface="Malgun Gothic"/>
              </a:rPr>
              <a:t>)</a:t>
            </a:r>
            <a:endParaRPr lang="ko-KR" altLang="en-US" sz="950" dirty="0">
              <a:latin typeface="Malgun Gothic"/>
              <a:cs typeface="Malgun Gothic"/>
            </a:endParaRPr>
          </a:p>
          <a:p>
            <a:pPr marL="193675">
              <a:lnSpc>
                <a:spcPct val="100000"/>
              </a:lnSpc>
              <a:spcBef>
                <a:spcPts val="795"/>
              </a:spcBef>
            </a:pPr>
            <a:r>
              <a:rPr lang="en-US" sz="950" spc="-85" dirty="0">
                <a:solidFill>
                  <a:srgbClr val="333333"/>
                </a:solidFill>
                <a:latin typeface="Arial Black"/>
                <a:cs typeface="Arial Black"/>
              </a:rPr>
              <a:t>Table:</a:t>
            </a:r>
            <a:r>
              <a:rPr lang="en-US" sz="950" spc="-35" dirty="0">
                <a:solidFill>
                  <a:srgbClr val="333333"/>
                </a:solidFill>
                <a:latin typeface="Arial Black"/>
                <a:cs typeface="Arial Black"/>
              </a:rPr>
              <a:t> </a:t>
            </a:r>
            <a:r>
              <a:rPr lang="en-US" sz="950" spc="-55" dirty="0">
                <a:solidFill>
                  <a:srgbClr val="333333"/>
                </a:solidFill>
                <a:latin typeface="Arial Black"/>
                <a:cs typeface="Arial Black"/>
              </a:rPr>
              <a:t>COMPLIANCE_AGREEMENT_LOG</a:t>
            </a:r>
            <a:endParaRPr lang="en-US" sz="950" dirty="0">
              <a:latin typeface="Arial Black"/>
              <a:cs typeface="Arial Black"/>
            </a:endParaRPr>
          </a:p>
          <a:p>
            <a:pPr marL="263525" lvl="3" indent="-69850">
              <a:lnSpc>
                <a:spcPct val="100000"/>
              </a:lnSpc>
              <a:spcBef>
                <a:spcPts val="425"/>
              </a:spcBef>
              <a:buChar char="-"/>
              <a:tabLst>
                <a:tab pos="263525" algn="l"/>
              </a:tabLst>
            </a:pPr>
            <a:r>
              <a:rPr lang="en-US" sz="950" dirty="0">
                <a:solidFill>
                  <a:srgbClr val="333333"/>
                </a:solidFill>
                <a:latin typeface="Lucida Sans"/>
                <a:cs typeface="Lucida Sans"/>
              </a:rPr>
              <a:t>EMP_NO</a:t>
            </a:r>
            <a:r>
              <a:rPr lang="en-US" sz="950" spc="-2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lang="en-US" sz="950" spc="-35" dirty="0">
                <a:solidFill>
                  <a:srgbClr val="333333"/>
                </a:solidFill>
                <a:latin typeface="Lucida Sans"/>
                <a:cs typeface="Lucida Sans"/>
              </a:rPr>
              <a:t>(</a:t>
            </a:r>
            <a:r>
              <a:rPr lang="ko-KR" altLang="en-US" sz="950" spc="-35" dirty="0">
                <a:solidFill>
                  <a:srgbClr val="333333"/>
                </a:solidFill>
                <a:latin typeface="Malgun Gothic"/>
                <a:cs typeface="Malgun Gothic"/>
              </a:rPr>
              <a:t>사번</a:t>
            </a:r>
            <a:r>
              <a:rPr lang="en-US" altLang="ko-KR" sz="950" spc="-35" dirty="0">
                <a:solidFill>
                  <a:srgbClr val="333333"/>
                </a:solidFill>
                <a:latin typeface="Malgun Gothic"/>
                <a:cs typeface="Malgun Gothic"/>
              </a:rPr>
              <a:t>,</a:t>
            </a:r>
            <a:r>
              <a:rPr lang="ko-KR" altLang="en-US" sz="950" spc="-25" dirty="0">
                <a:solidFill>
                  <a:srgbClr val="333333"/>
                </a:solidFill>
                <a:latin typeface="Malgun Gothic"/>
                <a:cs typeface="Malgun Gothic"/>
              </a:rPr>
              <a:t> </a:t>
            </a:r>
            <a:r>
              <a:rPr lang="en-US" sz="950" spc="-10" dirty="0">
                <a:solidFill>
                  <a:srgbClr val="333333"/>
                </a:solidFill>
                <a:latin typeface="Lucida Sans"/>
                <a:cs typeface="Lucida Sans"/>
              </a:rPr>
              <a:t>VARCHAR)</a:t>
            </a:r>
            <a:endParaRPr lang="en-US" sz="950" dirty="0">
              <a:latin typeface="Lucida Sans"/>
              <a:cs typeface="Lucida Sans"/>
            </a:endParaRPr>
          </a:p>
          <a:p>
            <a:pPr marL="263525" lvl="3" indent="-69850">
              <a:lnSpc>
                <a:spcPct val="100000"/>
              </a:lnSpc>
              <a:spcBef>
                <a:spcPts val="384"/>
              </a:spcBef>
              <a:buChar char="-"/>
              <a:tabLst>
                <a:tab pos="263525" algn="l"/>
              </a:tabLst>
            </a:pPr>
            <a:r>
              <a:rPr lang="en-US" sz="950" dirty="0">
                <a:solidFill>
                  <a:srgbClr val="333333"/>
                </a:solidFill>
                <a:latin typeface="Lucida Sans"/>
                <a:cs typeface="Lucida Sans"/>
              </a:rPr>
              <a:t>EMP_NAME</a:t>
            </a:r>
            <a:r>
              <a:rPr lang="en-US" sz="950" spc="-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lang="en-US" sz="950" spc="-35" dirty="0">
                <a:solidFill>
                  <a:srgbClr val="333333"/>
                </a:solidFill>
                <a:latin typeface="Lucida Sans"/>
                <a:cs typeface="Lucida Sans"/>
              </a:rPr>
              <a:t>(</a:t>
            </a:r>
            <a:r>
              <a:rPr lang="ko-KR" altLang="en-US" sz="950" spc="-35" dirty="0">
                <a:solidFill>
                  <a:srgbClr val="333333"/>
                </a:solidFill>
                <a:latin typeface="Malgun Gothic"/>
                <a:cs typeface="Malgun Gothic"/>
              </a:rPr>
              <a:t>이름</a:t>
            </a:r>
            <a:r>
              <a:rPr lang="en-US" altLang="ko-KR" sz="950" spc="-35" dirty="0">
                <a:solidFill>
                  <a:srgbClr val="333333"/>
                </a:solidFill>
                <a:latin typeface="Malgun Gothic"/>
                <a:cs typeface="Malgun Gothic"/>
              </a:rPr>
              <a:t>,</a:t>
            </a:r>
            <a:r>
              <a:rPr lang="ko-KR" altLang="en-US" sz="950" spc="-15" dirty="0">
                <a:solidFill>
                  <a:srgbClr val="333333"/>
                </a:solidFill>
                <a:latin typeface="Malgun Gothic"/>
                <a:cs typeface="Malgun Gothic"/>
              </a:rPr>
              <a:t> </a:t>
            </a:r>
            <a:r>
              <a:rPr lang="en-US" sz="950" spc="-10" dirty="0">
                <a:solidFill>
                  <a:srgbClr val="333333"/>
                </a:solidFill>
                <a:latin typeface="Lucida Sans"/>
                <a:cs typeface="Lucida Sans"/>
              </a:rPr>
              <a:t>VARCHAR)</a:t>
            </a:r>
            <a:endParaRPr lang="en-US" sz="950" dirty="0">
              <a:latin typeface="Lucida Sans"/>
              <a:cs typeface="Lucida Sans"/>
            </a:endParaRPr>
          </a:p>
          <a:p>
            <a:pPr marL="263525" lvl="3" indent="-69850">
              <a:lnSpc>
                <a:spcPct val="100000"/>
              </a:lnSpc>
              <a:spcBef>
                <a:spcPts val="380"/>
              </a:spcBef>
              <a:buChar char="-"/>
              <a:tabLst>
                <a:tab pos="263525" algn="l"/>
              </a:tabLst>
            </a:pPr>
            <a:r>
              <a:rPr lang="en-US" sz="950" spc="-10" dirty="0">
                <a:solidFill>
                  <a:srgbClr val="333333"/>
                </a:solidFill>
                <a:latin typeface="Lucida Sans"/>
                <a:cs typeface="Lucida Sans"/>
              </a:rPr>
              <a:t>IP_ADDRESS</a:t>
            </a:r>
            <a:r>
              <a:rPr lang="en-US" sz="950" spc="-2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lang="en-US" sz="950" spc="-10" dirty="0">
                <a:solidFill>
                  <a:srgbClr val="333333"/>
                </a:solidFill>
                <a:latin typeface="Lucida Sans"/>
                <a:cs typeface="Lucida Sans"/>
              </a:rPr>
              <a:t>(IP</a:t>
            </a:r>
            <a:r>
              <a:rPr lang="ko-KR" altLang="en-US" sz="950" spc="-10" dirty="0">
                <a:solidFill>
                  <a:srgbClr val="333333"/>
                </a:solidFill>
                <a:latin typeface="Malgun Gothic"/>
                <a:cs typeface="Malgun Gothic"/>
              </a:rPr>
              <a:t>주소</a:t>
            </a:r>
            <a:r>
              <a:rPr lang="en-US" altLang="ko-KR" sz="950" spc="-10" dirty="0">
                <a:solidFill>
                  <a:srgbClr val="333333"/>
                </a:solidFill>
                <a:latin typeface="Malgun Gothic"/>
                <a:cs typeface="Malgun Gothic"/>
              </a:rPr>
              <a:t>,</a:t>
            </a:r>
            <a:r>
              <a:rPr lang="ko-KR" altLang="en-US" sz="950" spc="-35" dirty="0">
                <a:solidFill>
                  <a:srgbClr val="333333"/>
                </a:solidFill>
                <a:latin typeface="Malgun Gothic"/>
                <a:cs typeface="Malgun Gothic"/>
              </a:rPr>
              <a:t> </a:t>
            </a:r>
            <a:r>
              <a:rPr lang="en-US" sz="950" spc="-10" dirty="0">
                <a:solidFill>
                  <a:srgbClr val="333333"/>
                </a:solidFill>
                <a:latin typeface="Lucida Sans"/>
                <a:cs typeface="Lucida Sans"/>
              </a:rPr>
              <a:t>VARCHAR)</a:t>
            </a:r>
            <a:endParaRPr lang="en-US" sz="950" dirty="0">
              <a:latin typeface="Lucida Sans"/>
              <a:cs typeface="Lucida Sans"/>
            </a:endParaRPr>
          </a:p>
          <a:p>
            <a:pPr marL="263525" lvl="3" indent="-69850">
              <a:lnSpc>
                <a:spcPct val="100000"/>
              </a:lnSpc>
              <a:spcBef>
                <a:spcPts val="385"/>
              </a:spcBef>
              <a:buChar char="-"/>
              <a:tabLst>
                <a:tab pos="263525" algn="l"/>
              </a:tabLst>
            </a:pPr>
            <a:r>
              <a:rPr lang="en-US" sz="950" spc="-10" dirty="0">
                <a:solidFill>
                  <a:srgbClr val="333333"/>
                </a:solidFill>
                <a:latin typeface="Lucida Sans"/>
                <a:cs typeface="Lucida Sans"/>
              </a:rPr>
              <a:t>AGREE_NO</a:t>
            </a:r>
            <a:r>
              <a:rPr lang="en-US" sz="950" spc="-3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lang="en-US" sz="950" spc="-65" dirty="0">
                <a:solidFill>
                  <a:srgbClr val="333333"/>
                </a:solidFill>
                <a:latin typeface="Lucida Sans"/>
                <a:cs typeface="Lucida Sans"/>
              </a:rPr>
              <a:t>(</a:t>
            </a:r>
            <a:r>
              <a:rPr lang="ko-KR" altLang="en-US" sz="950" spc="-65" dirty="0">
                <a:solidFill>
                  <a:srgbClr val="333333"/>
                </a:solidFill>
                <a:latin typeface="Malgun Gothic"/>
                <a:cs typeface="Malgun Gothic"/>
              </a:rPr>
              <a:t>서약</a:t>
            </a:r>
            <a:r>
              <a:rPr lang="ko-KR" altLang="en-US" sz="950" spc="-35" dirty="0">
                <a:solidFill>
                  <a:srgbClr val="333333"/>
                </a:solidFill>
                <a:latin typeface="Malgun Gothic"/>
                <a:cs typeface="Malgun Gothic"/>
              </a:rPr>
              <a:t> </a:t>
            </a:r>
            <a:r>
              <a:rPr lang="ko-KR" altLang="en-US" sz="950" spc="-40" dirty="0">
                <a:solidFill>
                  <a:srgbClr val="333333"/>
                </a:solidFill>
                <a:latin typeface="Malgun Gothic"/>
                <a:cs typeface="Malgun Gothic"/>
              </a:rPr>
              <a:t>번호</a:t>
            </a:r>
            <a:r>
              <a:rPr lang="en-US" altLang="ko-KR" sz="950" spc="-40" dirty="0">
                <a:solidFill>
                  <a:srgbClr val="333333"/>
                </a:solidFill>
                <a:latin typeface="Malgun Gothic"/>
                <a:cs typeface="Malgun Gothic"/>
              </a:rPr>
              <a:t>, </a:t>
            </a:r>
            <a:r>
              <a:rPr lang="en-US" sz="950" spc="-10" dirty="0">
                <a:solidFill>
                  <a:srgbClr val="333333"/>
                </a:solidFill>
                <a:latin typeface="Lucida Sans"/>
                <a:cs typeface="Lucida Sans"/>
              </a:rPr>
              <a:t>VARCHAR)</a:t>
            </a:r>
            <a:endParaRPr lang="en-US" sz="950" dirty="0">
              <a:latin typeface="Lucida Sans"/>
              <a:cs typeface="Lucida Sans"/>
            </a:endParaRPr>
          </a:p>
          <a:p>
            <a:pPr marL="263525" lvl="3" indent="-69850">
              <a:lnSpc>
                <a:spcPct val="100000"/>
              </a:lnSpc>
              <a:spcBef>
                <a:spcPts val="380"/>
              </a:spcBef>
              <a:buChar char="-"/>
              <a:tabLst>
                <a:tab pos="263525" algn="l"/>
              </a:tabLst>
            </a:pPr>
            <a:r>
              <a:rPr lang="en-US" sz="950" spc="-40" dirty="0">
                <a:solidFill>
                  <a:srgbClr val="333333"/>
                </a:solidFill>
                <a:latin typeface="Lucida Sans"/>
                <a:cs typeface="Lucida Sans"/>
              </a:rPr>
              <a:t>AGREED_AT</a:t>
            </a:r>
            <a:r>
              <a:rPr lang="en-US" sz="950" spc="-3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lang="en-US" sz="950" spc="-55" dirty="0">
                <a:solidFill>
                  <a:srgbClr val="333333"/>
                </a:solidFill>
                <a:latin typeface="Lucida Sans"/>
                <a:cs typeface="Lucida Sans"/>
              </a:rPr>
              <a:t>(</a:t>
            </a:r>
            <a:r>
              <a:rPr lang="ko-KR" altLang="en-US" sz="950" spc="-55" dirty="0">
                <a:solidFill>
                  <a:srgbClr val="333333"/>
                </a:solidFill>
                <a:latin typeface="Malgun Gothic"/>
                <a:cs typeface="Malgun Gothic"/>
              </a:rPr>
              <a:t>동의일시</a:t>
            </a:r>
            <a:r>
              <a:rPr lang="en-US" altLang="ko-KR" sz="950" spc="-55" dirty="0">
                <a:solidFill>
                  <a:srgbClr val="333333"/>
                </a:solidFill>
                <a:latin typeface="Malgun Gothic"/>
                <a:cs typeface="Malgun Gothic"/>
              </a:rPr>
              <a:t>,</a:t>
            </a:r>
            <a:r>
              <a:rPr lang="ko-KR" altLang="en-US" sz="950" spc="-45" dirty="0">
                <a:solidFill>
                  <a:srgbClr val="333333"/>
                </a:solidFill>
                <a:latin typeface="Malgun Gothic"/>
                <a:cs typeface="Malgun Gothic"/>
              </a:rPr>
              <a:t> </a:t>
            </a:r>
            <a:r>
              <a:rPr lang="en-US" sz="950" spc="-10" dirty="0">
                <a:solidFill>
                  <a:srgbClr val="333333"/>
                </a:solidFill>
                <a:latin typeface="Lucida Sans"/>
                <a:cs typeface="Lucida Sans"/>
              </a:rPr>
              <a:t>TIMESTAMP)</a:t>
            </a:r>
            <a:endParaRPr lang="en-US" sz="950" dirty="0">
              <a:latin typeface="Lucida Sans"/>
              <a:cs typeface="Lucida Sans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F7A22BF-EE77-41BC-8F53-907B8D78480D}"/>
              </a:ext>
            </a:extLst>
          </p:cNvPr>
          <p:cNvGrpSpPr/>
          <p:nvPr/>
        </p:nvGrpSpPr>
        <p:grpSpPr>
          <a:xfrm>
            <a:off x="533399" y="666860"/>
            <a:ext cx="6410575" cy="400050"/>
            <a:chOff x="533399" y="709250"/>
            <a:chExt cx="6410575" cy="400050"/>
          </a:xfrm>
        </p:grpSpPr>
        <p:sp>
          <p:nvSpPr>
            <p:cNvPr id="35" name="bg object 16">
              <a:extLst>
                <a:ext uri="{FF2B5EF4-FFF2-40B4-BE49-F238E27FC236}">
                  <a16:creationId xmlns:a16="http://schemas.microsoft.com/office/drawing/2014/main" id="{C840722E-8478-4320-B9B5-44241188512C}"/>
                </a:ext>
              </a:extLst>
            </p:cNvPr>
            <p:cNvSpPr/>
            <p:nvPr/>
          </p:nvSpPr>
          <p:spPr>
            <a:xfrm>
              <a:off x="616199" y="709250"/>
              <a:ext cx="6327775" cy="400050"/>
            </a:xfrm>
            <a:custGeom>
              <a:avLst/>
              <a:gdLst/>
              <a:ahLst/>
              <a:cxnLst/>
              <a:rect l="l" t="t" r="r" b="b"/>
              <a:pathLst>
                <a:path w="6327775" h="400050">
                  <a:moveTo>
                    <a:pt x="6327600" y="400050"/>
                  </a:moveTo>
                  <a:lnTo>
                    <a:pt x="0" y="400050"/>
                  </a:lnTo>
                  <a:lnTo>
                    <a:pt x="0" y="0"/>
                  </a:lnTo>
                  <a:lnTo>
                    <a:pt x="6327600" y="0"/>
                  </a:lnTo>
                  <a:lnTo>
                    <a:pt x="6327600" y="400050"/>
                  </a:lnTo>
                  <a:close/>
                </a:path>
              </a:pathLst>
            </a:custGeom>
            <a:solidFill>
              <a:srgbClr val="EFF4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bg object 17">
              <a:extLst>
                <a:ext uri="{FF2B5EF4-FFF2-40B4-BE49-F238E27FC236}">
                  <a16:creationId xmlns:a16="http://schemas.microsoft.com/office/drawing/2014/main" id="{30A94EF3-CCE7-4B08-B5A6-CBC8929D2D94}"/>
                </a:ext>
              </a:extLst>
            </p:cNvPr>
            <p:cNvSpPr/>
            <p:nvPr/>
          </p:nvSpPr>
          <p:spPr>
            <a:xfrm>
              <a:off x="616199" y="709250"/>
              <a:ext cx="47625" cy="400050"/>
            </a:xfrm>
            <a:custGeom>
              <a:avLst/>
              <a:gdLst/>
              <a:ahLst/>
              <a:cxnLst/>
              <a:rect l="l" t="t" r="r" b="b"/>
              <a:pathLst>
                <a:path w="47625" h="400050">
                  <a:moveTo>
                    <a:pt x="47625" y="400050"/>
                  </a:moveTo>
                  <a:lnTo>
                    <a:pt x="0" y="400050"/>
                  </a:lnTo>
                  <a:lnTo>
                    <a:pt x="0" y="0"/>
                  </a:lnTo>
                  <a:lnTo>
                    <a:pt x="47625" y="0"/>
                  </a:lnTo>
                  <a:lnTo>
                    <a:pt x="47625" y="400050"/>
                  </a:lnTo>
                  <a:close/>
                </a:path>
              </a:pathLst>
            </a:custGeom>
            <a:solidFill>
              <a:srgbClr val="004B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0CA5F27-420F-4639-A657-3CD1F17F4EE6}"/>
                </a:ext>
              </a:extLst>
            </p:cNvPr>
            <p:cNvSpPr txBox="1"/>
            <p:nvPr/>
          </p:nvSpPr>
          <p:spPr>
            <a:xfrm>
              <a:off x="533399" y="739998"/>
              <a:ext cx="631156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55575">
                <a:lnSpc>
                  <a:spcPct val="100000"/>
                </a:lnSpc>
              </a:pPr>
              <a:r>
                <a:rPr lang="en-US" altLang="ko-KR" sz="1600" b="1" spc="50" dirty="0">
                  <a:solidFill>
                    <a:srgbClr val="004B9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Malgun Gothic"/>
                </a:rPr>
                <a:t>3. </a:t>
              </a:r>
              <a:r>
                <a:rPr lang="ko-KR" altLang="en-US" sz="1600" b="1" spc="50" dirty="0">
                  <a:solidFill>
                    <a:srgbClr val="004B9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Malgun Gothic"/>
                </a:rPr>
                <a:t>상세 요구사항 정의 </a:t>
              </a:r>
              <a:r>
                <a:rPr lang="en-US" altLang="ko-KR" sz="1600" b="1" spc="50" dirty="0">
                  <a:solidFill>
                    <a:srgbClr val="004B9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Malgun Gothic"/>
                </a:rPr>
                <a:t>(Functional Requirements) 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6199" y="1540106"/>
            <a:ext cx="6327775" cy="0"/>
          </a:xfrm>
          <a:custGeom>
            <a:avLst/>
            <a:gdLst/>
            <a:ahLst/>
            <a:cxnLst/>
            <a:rect l="l" t="t" r="r" b="b"/>
            <a:pathLst>
              <a:path w="6327775">
                <a:moveTo>
                  <a:pt x="0" y="0"/>
                </a:moveTo>
                <a:lnTo>
                  <a:pt x="6327601" y="0"/>
                </a:lnTo>
              </a:path>
            </a:pathLst>
          </a:custGeom>
          <a:ln w="9525">
            <a:solidFill>
              <a:srgbClr val="CCCCCC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16199" y="3152365"/>
            <a:ext cx="6327775" cy="0"/>
          </a:xfrm>
          <a:custGeom>
            <a:avLst/>
            <a:gdLst/>
            <a:ahLst/>
            <a:cxnLst/>
            <a:rect l="l" t="t" r="r" b="b"/>
            <a:pathLst>
              <a:path w="6327775">
                <a:moveTo>
                  <a:pt x="0" y="0"/>
                </a:moveTo>
                <a:lnTo>
                  <a:pt x="6327601" y="0"/>
                </a:lnTo>
              </a:path>
            </a:pathLst>
          </a:custGeom>
          <a:ln w="9525">
            <a:solidFill>
              <a:srgbClr val="CCCCCC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16199" y="5304656"/>
            <a:ext cx="6327775" cy="0"/>
          </a:xfrm>
          <a:custGeom>
            <a:avLst/>
            <a:gdLst/>
            <a:ahLst/>
            <a:cxnLst/>
            <a:rect l="l" t="t" r="r" b="b"/>
            <a:pathLst>
              <a:path w="6327775">
                <a:moveTo>
                  <a:pt x="0" y="0"/>
                </a:moveTo>
                <a:lnTo>
                  <a:pt x="6327601" y="0"/>
                </a:lnTo>
              </a:path>
            </a:pathLst>
          </a:custGeom>
          <a:ln w="9525">
            <a:solidFill>
              <a:srgbClr val="CCCCCC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16199" y="7099300"/>
            <a:ext cx="6327775" cy="0"/>
          </a:xfrm>
          <a:custGeom>
            <a:avLst/>
            <a:gdLst/>
            <a:ahLst/>
            <a:cxnLst/>
            <a:rect l="l" t="t" r="r" b="b"/>
            <a:pathLst>
              <a:path w="6327775">
                <a:moveTo>
                  <a:pt x="0" y="0"/>
                </a:moveTo>
                <a:lnTo>
                  <a:pt x="6327601" y="0"/>
                </a:lnTo>
              </a:path>
            </a:pathLst>
          </a:custGeom>
          <a:ln w="9525">
            <a:solidFill>
              <a:srgbClr val="CCCCCC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03497" y="1273810"/>
            <a:ext cx="6351905" cy="29048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4480" lvl="1" indent="-271780">
              <a:lnSpc>
                <a:spcPct val="100000"/>
              </a:lnSpc>
              <a:spcBef>
                <a:spcPts val="2030"/>
              </a:spcBef>
              <a:buClr>
                <a:srgbClr val="333333"/>
              </a:buClr>
              <a:buFont typeface="Malgun Gothic"/>
              <a:buAutoNum type="arabicPeriod"/>
              <a:tabLst>
                <a:tab pos="284480" algn="l"/>
              </a:tabLst>
            </a:pPr>
            <a:r>
              <a:rPr sz="1200" b="1" spc="-10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웹</a:t>
            </a:r>
            <a:r>
              <a:rPr sz="1200" b="1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200" b="1" spc="-10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관리자</a:t>
            </a:r>
            <a:r>
              <a:rPr sz="1200" b="1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200" b="1" spc="-10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페이지</a:t>
            </a:r>
            <a:r>
              <a:rPr sz="1200" b="1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200" b="1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(</a:t>
            </a:r>
            <a:r>
              <a:rPr sz="1200" b="1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 Black"/>
              </a:rPr>
              <a:t>Back-</a:t>
            </a:r>
            <a:r>
              <a:rPr sz="1200" b="1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 Black"/>
              </a:rPr>
              <a:t>office</a:t>
            </a:r>
            <a:r>
              <a:rPr sz="1200" b="1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)</a:t>
            </a:r>
            <a:r>
              <a:rPr sz="1200" b="1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200" b="1" spc="-2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생성</a:t>
            </a:r>
            <a:endParaRPr sz="1200" dirty="0"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  <a:p>
            <a:pPr marL="203200" marR="135255" lvl="2" indent="-71755">
              <a:lnSpc>
                <a:spcPct val="133300"/>
              </a:lnSpc>
              <a:spcBef>
                <a:spcPts val="930"/>
              </a:spcBef>
              <a:buFont typeface="Malgun Gothic"/>
              <a:buChar char="•"/>
              <a:tabLst>
                <a:tab pos="203200" algn="l"/>
              </a:tabLst>
            </a:pPr>
            <a:r>
              <a:rPr sz="1000" b="1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서약</a:t>
            </a:r>
            <a:r>
              <a:rPr sz="1000" b="1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b="1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문구</a:t>
            </a:r>
            <a:r>
              <a:rPr sz="1000" b="1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b="1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관리</a:t>
            </a:r>
            <a:r>
              <a:rPr sz="1000" b="1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b="1" spc="-5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 Black"/>
              </a:rPr>
              <a:t>UI</a:t>
            </a:r>
            <a:r>
              <a:rPr sz="1000" spc="-5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 Black"/>
              </a:rPr>
              <a:t>:</a:t>
            </a:r>
            <a:r>
              <a:rPr sz="1000" spc="-4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 Black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준법지원부서</a:t>
            </a:r>
            <a:r>
              <a:rPr sz="1000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등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관리자가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코드를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수정하지</a:t>
            </a:r>
            <a:r>
              <a:rPr sz="1000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않고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웹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화면에서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서약서</a:t>
            </a:r>
            <a:r>
              <a:rPr sz="1000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제목과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5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본문(1개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또는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4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다수 </a:t>
            </a:r>
            <a:r>
              <a:rPr sz="1000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조항)을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편집하고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5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[저장/배포]할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수</a:t>
            </a:r>
            <a:r>
              <a:rPr sz="1000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있는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기능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2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제공.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  <a:p>
            <a:pPr marL="203200" marR="109220" lvl="2" indent="-71755">
              <a:lnSpc>
                <a:spcPct val="133300"/>
              </a:lnSpc>
              <a:spcBef>
                <a:spcPts val="375"/>
              </a:spcBef>
              <a:buFont typeface="Malgun Gothic"/>
              <a:buChar char="•"/>
              <a:tabLst>
                <a:tab pos="203200" algn="l"/>
              </a:tabLst>
            </a:pPr>
            <a:r>
              <a:rPr sz="1000" b="1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버전 관리</a:t>
            </a:r>
            <a:r>
              <a:rPr sz="1000" b="1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b="1" spc="-5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시스템:</a:t>
            </a:r>
            <a:r>
              <a:rPr sz="1000" b="1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약관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변경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시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새로운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버전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4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번호(예: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5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ucida Sans"/>
              </a:rPr>
              <a:t>v1.0,</a:t>
            </a:r>
            <a:r>
              <a:rPr sz="1000" spc="-5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ucida Sans"/>
              </a:rPr>
              <a:t> </a:t>
            </a:r>
            <a:r>
              <a:rPr sz="1000" spc="-4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ucida Sans"/>
              </a:rPr>
              <a:t>v1.1</a:t>
            </a:r>
            <a:r>
              <a:rPr sz="1000" spc="-4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)를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부여하여,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구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버전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동의자와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신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버전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동의자를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5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구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분하여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통계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추출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2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가능.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  <a:p>
            <a:pPr marL="202565" lvl="2" indent="-71120">
              <a:lnSpc>
                <a:spcPct val="100000"/>
              </a:lnSpc>
              <a:spcBef>
                <a:spcPts val="775"/>
              </a:spcBef>
              <a:buFont typeface="Malgun Gothic"/>
              <a:buChar char="•"/>
              <a:tabLst>
                <a:tab pos="202565" algn="l"/>
              </a:tabLst>
            </a:pPr>
            <a:r>
              <a:rPr sz="1000" b="1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현황</a:t>
            </a:r>
            <a:r>
              <a:rPr sz="1000" b="1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b="1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모니터링: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사내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임직원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중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미동의자와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동의자의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실시간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현황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리스트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및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엑셀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다운로드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기능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2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제공.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  <a:p>
            <a:pPr marL="284480" lvl="1" indent="-271780">
              <a:lnSpc>
                <a:spcPct val="100000"/>
              </a:lnSpc>
              <a:spcBef>
                <a:spcPts val="1575"/>
              </a:spcBef>
              <a:buClr>
                <a:srgbClr val="333333"/>
              </a:buClr>
              <a:buFont typeface="Malgun Gothic"/>
              <a:buAutoNum type="arabicPeriod"/>
              <a:tabLst>
                <a:tab pos="284480" algn="l"/>
              </a:tabLst>
            </a:pPr>
            <a:r>
              <a:rPr sz="1200" b="1" spc="-10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동적</a:t>
            </a:r>
            <a:r>
              <a:rPr sz="1200" b="1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200" b="1" spc="-10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약관</a:t>
            </a:r>
            <a:r>
              <a:rPr sz="1200" b="1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200" b="1" spc="-10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파싱</a:t>
            </a:r>
            <a:r>
              <a:rPr sz="1200" b="1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200" b="1" spc="-10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및</a:t>
            </a:r>
            <a:r>
              <a:rPr sz="1200" b="1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200" b="1" spc="-10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클라이언트</a:t>
            </a:r>
            <a:r>
              <a:rPr sz="1200" b="1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200" b="1" spc="-2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렌더링</a:t>
            </a:r>
            <a:endParaRPr sz="1200" dirty="0"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  <a:p>
            <a:pPr marL="202565" lvl="2" indent="-71120">
              <a:lnSpc>
                <a:spcPct val="100000"/>
              </a:lnSpc>
              <a:spcBef>
                <a:spcPts val="1330"/>
              </a:spcBef>
              <a:buChar char="•"/>
              <a:tabLst>
                <a:tab pos="202565" algn="l"/>
              </a:tabLst>
            </a:pP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클라이언트</a:t>
            </a:r>
            <a:r>
              <a:rPr sz="1000" spc="-5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프로그램이</a:t>
            </a:r>
            <a:r>
              <a:rPr sz="1000" spc="-5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구동될</a:t>
            </a:r>
            <a:r>
              <a:rPr sz="1000" spc="-5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때</a:t>
            </a:r>
            <a:r>
              <a:rPr sz="1000" spc="-5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백엔드</a:t>
            </a:r>
            <a:r>
              <a:rPr sz="1000" spc="-5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1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ucida Sans"/>
              </a:rPr>
              <a:t>API(</a:t>
            </a:r>
            <a:r>
              <a:rPr sz="1000" spc="-1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예:</a:t>
            </a:r>
            <a:r>
              <a:rPr sz="1000" spc="-5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/>
              </a:rPr>
              <a:t>/api/current-</a:t>
            </a:r>
            <a:r>
              <a:rPr sz="1000" spc="-1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/>
              </a:rPr>
              <a:t>agreement</a:t>
            </a:r>
            <a:r>
              <a:rPr sz="1000" spc="-1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)를</a:t>
            </a:r>
            <a:r>
              <a:rPr sz="1000" spc="-5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1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호출합니다.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  <a:p>
            <a:pPr marL="203200" marR="406400" lvl="2" indent="-71755">
              <a:lnSpc>
                <a:spcPct val="137300"/>
              </a:lnSpc>
              <a:spcBef>
                <a:spcPts val="375"/>
              </a:spcBef>
              <a:buFont typeface="Malgun Gothic"/>
              <a:buChar char="•"/>
              <a:tabLst>
                <a:tab pos="203200" algn="l"/>
              </a:tabLst>
            </a:pPr>
            <a:r>
              <a:rPr sz="100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ucida Sans"/>
              </a:rPr>
              <a:t>API</a:t>
            </a:r>
            <a:r>
              <a:rPr sz="1000" spc="-4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ucida Sans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응답으로</a:t>
            </a:r>
            <a:r>
              <a:rPr sz="1000" spc="-5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전달된</a:t>
            </a:r>
            <a:r>
              <a:rPr sz="1000" spc="-5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최신</a:t>
            </a:r>
            <a:r>
              <a:rPr sz="1000" spc="-5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약관</a:t>
            </a:r>
            <a:r>
              <a:rPr sz="1000" spc="-5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2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내용(</a:t>
            </a:r>
            <a:r>
              <a:rPr sz="1000" spc="-2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ucida Sans"/>
              </a:rPr>
              <a:t>JSON</a:t>
            </a:r>
            <a:r>
              <a:rPr lang="en-US" sz="1000" spc="-2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ucida Sans"/>
              </a:rPr>
              <a:t> </a:t>
            </a:r>
            <a:r>
              <a:rPr lang="ko-KR" altLang="en-US" sz="1000" spc="-2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ucida Sans"/>
              </a:rPr>
              <a:t>또는 </a:t>
            </a:r>
            <a:r>
              <a:rPr lang="en-US" altLang="ko-KR" sz="1000" spc="-2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ucida Sans"/>
              </a:rPr>
              <a:t>HTML</a:t>
            </a:r>
            <a:r>
              <a:rPr sz="1000" spc="-4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ucida Sans"/>
              </a:rPr>
              <a:t> </a:t>
            </a:r>
            <a:r>
              <a:rPr sz="1000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포맷)을</a:t>
            </a:r>
            <a:r>
              <a:rPr sz="1000" spc="-5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클라이언트가</a:t>
            </a:r>
            <a:r>
              <a:rPr sz="1000" spc="-5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해석하여</a:t>
            </a:r>
            <a:r>
              <a:rPr sz="1000" spc="-5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35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ucida Sans"/>
              </a:rPr>
              <a:t>Tkinter</a:t>
            </a:r>
            <a:r>
              <a:rPr sz="1000" spc="-4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ucida Sans"/>
              </a:rPr>
              <a:t> </a:t>
            </a:r>
            <a:r>
              <a:rPr sz="1000" spc="-85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화면</a:t>
            </a:r>
            <a:r>
              <a:rPr sz="1000" spc="-10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에</a:t>
            </a:r>
            <a:r>
              <a:rPr sz="1000" spc="-5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동적</a:t>
            </a:r>
            <a:r>
              <a:rPr sz="1000" spc="-5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1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매핑합니다.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88836" y="289999"/>
            <a:ext cx="5441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70" dirty="0">
                <a:solidFill>
                  <a:srgbClr val="878787"/>
                </a:solidFill>
                <a:latin typeface="Malgun Gothic"/>
                <a:cs typeface="Malgun Gothic"/>
              </a:rPr>
              <a:t>페이지</a:t>
            </a:r>
            <a:r>
              <a:rPr sz="800" spc="-5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800" dirty="0">
                <a:solidFill>
                  <a:srgbClr val="878787"/>
                </a:solidFill>
                <a:latin typeface="Malgun Gothic"/>
                <a:cs typeface="Malgun Gothic"/>
              </a:rPr>
              <a:t>4</a:t>
            </a:r>
            <a:r>
              <a:rPr sz="800" spc="-5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800" dirty="0">
                <a:solidFill>
                  <a:srgbClr val="878787"/>
                </a:solidFill>
                <a:latin typeface="Malgun Gothic"/>
                <a:cs typeface="Malgun Gothic"/>
              </a:rPr>
              <a:t>/</a:t>
            </a:r>
            <a:r>
              <a:rPr sz="800" spc="-50" dirty="0">
                <a:solidFill>
                  <a:srgbClr val="878787"/>
                </a:solidFill>
                <a:latin typeface="Malgun Gothic"/>
                <a:cs typeface="Malgun Gothic"/>
              </a:rPr>
              <a:t> 5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20" name="object 10">
            <a:extLst>
              <a:ext uri="{FF2B5EF4-FFF2-40B4-BE49-F238E27FC236}">
                <a16:creationId xmlns:a16="http://schemas.microsoft.com/office/drawing/2014/main" id="{B0D85D90-E66E-4C51-A762-DD97E0098C0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27298" y="10252557"/>
            <a:ext cx="2717551" cy="142988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pc="-114" dirty="0"/>
              <a:t>KB</a:t>
            </a:r>
            <a:r>
              <a:rPr spc="-25" dirty="0"/>
              <a:t> </a:t>
            </a:r>
            <a:r>
              <a:rPr lang="en-US" spc="-55" dirty="0"/>
              <a:t>Data System</a:t>
            </a:r>
            <a:r>
              <a:rPr spc="-25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60" dirty="0"/>
              <a:t>Compliance</a:t>
            </a:r>
            <a:r>
              <a:rPr spc="-25" dirty="0"/>
              <a:t> </a:t>
            </a:r>
            <a:r>
              <a:rPr lang="en-US" spc="-25" dirty="0"/>
              <a:t>Agreement</a:t>
            </a:r>
            <a:r>
              <a:rPr spc="-25" dirty="0"/>
              <a:t> </a:t>
            </a:r>
            <a:r>
              <a:rPr spc="-30" dirty="0"/>
              <a:t>Project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41BDE492-8EB3-40F1-94EE-F274FCDD8F21}"/>
              </a:ext>
            </a:extLst>
          </p:cNvPr>
          <p:cNvGrpSpPr/>
          <p:nvPr/>
        </p:nvGrpSpPr>
        <p:grpSpPr>
          <a:xfrm>
            <a:off x="533399" y="666860"/>
            <a:ext cx="6410575" cy="400050"/>
            <a:chOff x="533399" y="709250"/>
            <a:chExt cx="6410575" cy="400050"/>
          </a:xfrm>
        </p:grpSpPr>
        <p:sp>
          <p:nvSpPr>
            <p:cNvPr id="24" name="bg object 16">
              <a:extLst>
                <a:ext uri="{FF2B5EF4-FFF2-40B4-BE49-F238E27FC236}">
                  <a16:creationId xmlns:a16="http://schemas.microsoft.com/office/drawing/2014/main" id="{F03BDC4F-B77C-4354-BA48-CC5904D545F4}"/>
                </a:ext>
              </a:extLst>
            </p:cNvPr>
            <p:cNvSpPr/>
            <p:nvPr/>
          </p:nvSpPr>
          <p:spPr>
            <a:xfrm>
              <a:off x="616199" y="709250"/>
              <a:ext cx="6327775" cy="400050"/>
            </a:xfrm>
            <a:custGeom>
              <a:avLst/>
              <a:gdLst/>
              <a:ahLst/>
              <a:cxnLst/>
              <a:rect l="l" t="t" r="r" b="b"/>
              <a:pathLst>
                <a:path w="6327775" h="400050">
                  <a:moveTo>
                    <a:pt x="6327600" y="400050"/>
                  </a:moveTo>
                  <a:lnTo>
                    <a:pt x="0" y="400050"/>
                  </a:lnTo>
                  <a:lnTo>
                    <a:pt x="0" y="0"/>
                  </a:lnTo>
                  <a:lnTo>
                    <a:pt x="6327600" y="0"/>
                  </a:lnTo>
                  <a:lnTo>
                    <a:pt x="6327600" y="400050"/>
                  </a:lnTo>
                  <a:close/>
                </a:path>
              </a:pathLst>
            </a:custGeom>
            <a:solidFill>
              <a:srgbClr val="EFF4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bg object 17">
              <a:extLst>
                <a:ext uri="{FF2B5EF4-FFF2-40B4-BE49-F238E27FC236}">
                  <a16:creationId xmlns:a16="http://schemas.microsoft.com/office/drawing/2014/main" id="{11EC3F50-4298-49C3-AE5E-2A3A256AB1B1}"/>
                </a:ext>
              </a:extLst>
            </p:cNvPr>
            <p:cNvSpPr/>
            <p:nvPr/>
          </p:nvSpPr>
          <p:spPr>
            <a:xfrm>
              <a:off x="616199" y="709250"/>
              <a:ext cx="47625" cy="400050"/>
            </a:xfrm>
            <a:custGeom>
              <a:avLst/>
              <a:gdLst/>
              <a:ahLst/>
              <a:cxnLst/>
              <a:rect l="l" t="t" r="r" b="b"/>
              <a:pathLst>
                <a:path w="47625" h="400050">
                  <a:moveTo>
                    <a:pt x="47625" y="400050"/>
                  </a:moveTo>
                  <a:lnTo>
                    <a:pt x="0" y="400050"/>
                  </a:lnTo>
                  <a:lnTo>
                    <a:pt x="0" y="0"/>
                  </a:lnTo>
                  <a:lnTo>
                    <a:pt x="47625" y="0"/>
                  </a:lnTo>
                  <a:lnTo>
                    <a:pt x="47625" y="400050"/>
                  </a:lnTo>
                  <a:close/>
                </a:path>
              </a:pathLst>
            </a:custGeom>
            <a:solidFill>
              <a:srgbClr val="004B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0C7FDF6-F9A2-4C1A-B352-74009F4E8099}"/>
                </a:ext>
              </a:extLst>
            </p:cNvPr>
            <p:cNvSpPr txBox="1"/>
            <p:nvPr/>
          </p:nvSpPr>
          <p:spPr>
            <a:xfrm>
              <a:off x="533399" y="739998"/>
              <a:ext cx="631156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55575">
                <a:lnSpc>
                  <a:spcPct val="100000"/>
                </a:lnSpc>
              </a:pPr>
              <a:r>
                <a:rPr lang="en-US" altLang="ko-KR" sz="1600" b="1" spc="50" dirty="0">
                  <a:solidFill>
                    <a:srgbClr val="004B9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Malgun Gothic"/>
                </a:rPr>
                <a:t>4. </a:t>
              </a:r>
              <a:r>
                <a:rPr lang="ko-KR" altLang="en-US" sz="1600" b="1" spc="50" dirty="0">
                  <a:solidFill>
                    <a:srgbClr val="004B9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Malgun Gothic"/>
                </a:rPr>
                <a:t>관리자 기능 및 동적 컨텐츠 제어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endParaRPr>
            </a:p>
          </p:txBody>
        </p:sp>
      </p:grpSp>
      <p:sp>
        <p:nvSpPr>
          <p:cNvPr id="27" name="object 17">
            <a:extLst>
              <a:ext uri="{FF2B5EF4-FFF2-40B4-BE49-F238E27FC236}">
                <a16:creationId xmlns:a16="http://schemas.microsoft.com/office/drawing/2014/main" id="{679528CA-CC29-48AC-AD98-EF42613A66B9}"/>
              </a:ext>
            </a:extLst>
          </p:cNvPr>
          <p:cNvSpPr txBox="1"/>
          <p:nvPr/>
        </p:nvSpPr>
        <p:spPr>
          <a:xfrm>
            <a:off x="612526" y="5052892"/>
            <a:ext cx="6351905" cy="25328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4480" lvl="1" indent="-271780">
              <a:lnSpc>
                <a:spcPct val="100000"/>
              </a:lnSpc>
              <a:spcBef>
                <a:spcPts val="2030"/>
              </a:spcBef>
              <a:buClr>
                <a:srgbClr val="333333"/>
              </a:buClr>
              <a:buFont typeface="Malgun Gothic"/>
              <a:buAutoNum type="arabicPeriod"/>
              <a:tabLst>
                <a:tab pos="284480" algn="l"/>
              </a:tabLst>
            </a:pPr>
            <a:r>
              <a:rPr sz="1200" b="1" spc="-105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자동</a:t>
            </a:r>
            <a:r>
              <a:rPr sz="1200" b="1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200" b="1" spc="-10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레지스트리</a:t>
            </a:r>
            <a:r>
              <a:rPr sz="1200" b="1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200" b="1" spc="-10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등록</a:t>
            </a:r>
            <a:r>
              <a:rPr sz="1200" b="1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200" b="1" spc="-10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및</a:t>
            </a:r>
            <a:r>
              <a:rPr sz="1200" b="1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200" b="1" spc="-10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인스톨러</a:t>
            </a:r>
            <a:r>
              <a:rPr sz="1200" b="1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200" b="1" spc="-10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파일</a:t>
            </a:r>
            <a:r>
              <a:rPr sz="1200" b="1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200" b="1" spc="-2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생성</a:t>
            </a:r>
            <a:endParaRPr sz="1200" dirty="0"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  <a:p>
            <a:pPr marL="203200" marR="9525" lvl="2" indent="-71755">
              <a:lnSpc>
                <a:spcPct val="139800"/>
              </a:lnSpc>
              <a:spcBef>
                <a:spcPts val="855"/>
              </a:spcBef>
              <a:buClr>
                <a:srgbClr val="333333"/>
              </a:buClr>
              <a:buSzPct val="125000"/>
              <a:buFont typeface="Malgun Gothic"/>
              <a:buChar char="•"/>
              <a:tabLst>
                <a:tab pos="203200" algn="l"/>
                <a:tab pos="259715" algn="l"/>
              </a:tabLst>
            </a:pPr>
            <a:r>
              <a:rPr lang="en-US" sz="1000" b="1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b="1" spc="-80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단일</a:t>
            </a:r>
            <a:r>
              <a:rPr sz="1000" b="1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b="1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실행파일화(</a:t>
            </a:r>
            <a:r>
              <a:rPr sz="1000" b="1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 Black"/>
              </a:rPr>
              <a:t>EXE</a:t>
            </a:r>
            <a:r>
              <a:rPr sz="1000" b="1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):</a:t>
            </a:r>
            <a:r>
              <a:rPr sz="1000" b="1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1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ucida Sans"/>
              </a:rPr>
              <a:t>PyInstaller</a:t>
            </a:r>
            <a:r>
              <a:rPr sz="1000" spc="-5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ucida Sans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등을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활용하여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ucida Sans"/>
              </a:rPr>
              <a:t>Python</a:t>
            </a:r>
            <a:r>
              <a:rPr sz="1000" spc="-5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ucida Sans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런타임이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없는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환경에서도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단독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실행되도록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2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가벼운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컴파일</a:t>
            </a:r>
            <a:r>
              <a:rPr sz="1000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25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진행</a:t>
            </a:r>
            <a:r>
              <a:rPr sz="1000" spc="-2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.</a:t>
            </a:r>
            <a:r>
              <a:rPr lang="en-US" altLang="ko-KR" sz="1000" spc="170" dirty="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br>
              <a:rPr lang="en-US" altLang="ko-KR" sz="1000" spc="170" dirty="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</a:br>
            <a:r>
              <a:rPr lang="en-US" altLang="ko-KR" sz="1000" spc="170" dirty="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※</a:t>
            </a:r>
            <a:r>
              <a:rPr lang="en-US" sz="1000" spc="-25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en-US" sz="1000" spc="-25" dirty="0" err="1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pyinstaller</a:t>
            </a:r>
            <a:r>
              <a:rPr lang="en-US" sz="1000" spc="-25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--</a:t>
            </a:r>
            <a:r>
              <a:rPr lang="en-US" sz="1000" spc="-25" dirty="0" err="1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noconsole</a:t>
            </a:r>
            <a:r>
              <a:rPr lang="en-US" sz="1000" spc="-25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--</a:t>
            </a:r>
            <a:r>
              <a:rPr lang="en-US" sz="1000" spc="-25" dirty="0" err="1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onefile</a:t>
            </a:r>
            <a:r>
              <a:rPr lang="en-US" sz="1000" spc="-25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--icon=myicon.ico screenlock.py</a:t>
            </a:r>
          </a:p>
          <a:p>
            <a:pPr marL="203200" marR="54610" lvl="2" indent="-71755">
              <a:lnSpc>
                <a:spcPct val="139800"/>
              </a:lnSpc>
              <a:spcBef>
                <a:spcPts val="295"/>
              </a:spcBef>
              <a:buClr>
                <a:srgbClr val="333333"/>
              </a:buClr>
              <a:buSzPct val="125000"/>
              <a:buFont typeface="Malgun Gothic"/>
              <a:buChar char="•"/>
              <a:tabLst>
                <a:tab pos="203200" algn="l"/>
                <a:tab pos="259715" algn="l"/>
              </a:tabLst>
            </a:pPr>
            <a:r>
              <a:rPr kumimoji="0" lang="en-US" altLang="ko-KR" sz="1000" b="1" i="0" u="none" strike="noStrike" cap="none" spc="-25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윈도우 작업 스케줄러 자동 등록: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NSIS(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Nullsoft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Scriptable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Install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System)를 이용하여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인스톨러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생성. 설치 시 윈도우 표준 스케줄러 엔진에 실행 경로 및 트리거가 자동 주입되도록 로직 내포.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  <a:p>
            <a:pPr marL="203200">
              <a:lnSpc>
                <a:spcPct val="100000"/>
              </a:lnSpc>
              <a:spcBef>
                <a:spcPts val="500"/>
              </a:spcBef>
            </a:pPr>
            <a:r>
              <a:rPr lang="en-US" altLang="ko-KR" sz="900" spc="170" dirty="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※</a:t>
            </a:r>
            <a:r>
              <a:rPr lang="ko-KR" altLang="en-US" sz="900" spc="-60" dirty="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900" spc="-60" dirty="0" err="1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작업스케줄러</a:t>
            </a:r>
            <a:r>
              <a:rPr lang="ko-KR" altLang="en-US" sz="900" spc="-60" dirty="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등록</a:t>
            </a:r>
            <a:r>
              <a:rPr lang="en-US" altLang="ko-KR" sz="900" spc="-60" dirty="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(</a:t>
            </a:r>
            <a:r>
              <a:rPr lang="ko-KR" altLang="en-US" sz="900" spc="-60" dirty="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예시</a:t>
            </a:r>
            <a:r>
              <a:rPr lang="en-US" altLang="ko-KR" sz="900" spc="-60" dirty="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) : \KB_Compliance_0910 (</a:t>
            </a:r>
            <a:r>
              <a:rPr lang="ko-KR" altLang="en-US" sz="900" spc="-60" dirty="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매일 </a:t>
            </a:r>
            <a:r>
              <a:rPr lang="en-US" altLang="ko-KR" sz="900" spc="-60" dirty="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09:10 </a:t>
            </a:r>
            <a:r>
              <a:rPr lang="ko-KR" altLang="en-US" sz="900" spc="-60" dirty="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실행</a:t>
            </a:r>
            <a:r>
              <a:rPr lang="en-US" altLang="ko-KR" sz="900" spc="-60" dirty="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)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900" dirty="0">
              <a:latin typeface="맑은 고딕" panose="020B0503020000020004" pitchFamily="50" charset="-127"/>
              <a:ea typeface="맑은 고딕" panose="020B0503020000020004" pitchFamily="50" charset="-127"/>
              <a:cs typeface="Courier New"/>
            </a:endParaRPr>
          </a:p>
          <a:p>
            <a:pPr marL="284480" lvl="1" indent="-271780">
              <a:lnSpc>
                <a:spcPct val="100000"/>
              </a:lnSpc>
              <a:buClr>
                <a:srgbClr val="333333"/>
              </a:buClr>
              <a:buFont typeface="Malgun Gothic"/>
              <a:buAutoNum type="arabicPeriod" startAt="2"/>
              <a:tabLst>
                <a:tab pos="284480" algn="l"/>
              </a:tabLst>
            </a:pPr>
            <a:r>
              <a:rPr sz="1200" b="1" spc="-10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하이브리드</a:t>
            </a:r>
            <a:r>
              <a:rPr sz="1200" b="1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200" b="1" spc="-10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트리거</a:t>
            </a:r>
            <a:r>
              <a:rPr sz="1200" b="1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200" b="1" spc="-10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스케줄링</a:t>
            </a:r>
            <a:r>
              <a:rPr sz="1200" b="1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(주기적 </a:t>
            </a:r>
            <a:r>
              <a:rPr sz="1200" b="1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/</a:t>
            </a:r>
            <a:r>
              <a:rPr sz="1200" b="1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200" b="1" spc="-10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특정</a:t>
            </a:r>
            <a:r>
              <a:rPr sz="1200" b="1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200" b="1" spc="-10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시간</a:t>
            </a:r>
            <a:r>
              <a:rPr sz="1200" b="1" spc="-7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200" b="1" spc="-2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조회)</a:t>
            </a:r>
            <a:endParaRPr sz="1200" dirty="0"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  <a:p>
            <a:pPr marL="12700" marR="5080">
              <a:lnSpc>
                <a:spcPct val="133300"/>
              </a:lnSpc>
              <a:spcBef>
                <a:spcPts val="935"/>
              </a:spcBef>
            </a:pPr>
            <a:r>
              <a:rPr sz="1000" spc="-85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사용자가</a:t>
            </a:r>
            <a:r>
              <a:rPr sz="1000" spc="-1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1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설치 시 </a:t>
            </a:r>
            <a:r>
              <a:rPr sz="1000" spc="-80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최초</a:t>
            </a:r>
            <a:r>
              <a:rPr sz="1000" spc="-1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1회</a:t>
            </a:r>
            <a:r>
              <a:rPr sz="1000" spc="-1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동의를</a:t>
            </a:r>
            <a:r>
              <a:rPr sz="1000" spc="-1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70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완료</a:t>
            </a:r>
            <a:r>
              <a:rPr lang="ko-KR" altLang="en-US"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한 경우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,</a:t>
            </a:r>
            <a:r>
              <a:rPr sz="1000" spc="-1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정책에</a:t>
            </a:r>
            <a:r>
              <a:rPr sz="1000" spc="-1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따라</a:t>
            </a:r>
            <a:r>
              <a:rPr sz="1000" spc="-1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다음과</a:t>
            </a:r>
            <a:r>
              <a:rPr sz="1000" spc="-1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같은</a:t>
            </a:r>
            <a:r>
              <a:rPr sz="1000" spc="-1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스케줄링</a:t>
            </a:r>
            <a:r>
              <a:rPr sz="1000" spc="-1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방식으로</a:t>
            </a:r>
            <a:r>
              <a:rPr sz="1000" spc="-1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백엔드</a:t>
            </a:r>
            <a:r>
              <a:rPr sz="1000" spc="-1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ucida Sans"/>
              </a:rPr>
              <a:t>API</a:t>
            </a:r>
            <a:r>
              <a:rPr sz="100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를</a:t>
            </a:r>
            <a:r>
              <a:rPr sz="1000" spc="-1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5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상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시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조회하여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새로운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배포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건이나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정기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서약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건이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있을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시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화면에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팝업을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강제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10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표출합니다</a:t>
            </a:r>
            <a:r>
              <a:rPr sz="1000" spc="-1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.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F0719397-3C42-465F-9715-5E8438F3E7BC}"/>
              </a:ext>
            </a:extLst>
          </p:cNvPr>
          <p:cNvGrpSpPr/>
          <p:nvPr/>
        </p:nvGrpSpPr>
        <p:grpSpPr>
          <a:xfrm>
            <a:off x="603497" y="4314843"/>
            <a:ext cx="6410575" cy="400050"/>
            <a:chOff x="533399" y="709250"/>
            <a:chExt cx="6410575" cy="400050"/>
          </a:xfrm>
        </p:grpSpPr>
        <p:sp>
          <p:nvSpPr>
            <p:cNvPr id="34" name="bg object 16">
              <a:extLst>
                <a:ext uri="{FF2B5EF4-FFF2-40B4-BE49-F238E27FC236}">
                  <a16:creationId xmlns:a16="http://schemas.microsoft.com/office/drawing/2014/main" id="{EE866540-3B01-422C-9E0E-460D357F01DB}"/>
                </a:ext>
              </a:extLst>
            </p:cNvPr>
            <p:cNvSpPr/>
            <p:nvPr/>
          </p:nvSpPr>
          <p:spPr>
            <a:xfrm>
              <a:off x="616199" y="709250"/>
              <a:ext cx="6327775" cy="400050"/>
            </a:xfrm>
            <a:custGeom>
              <a:avLst/>
              <a:gdLst/>
              <a:ahLst/>
              <a:cxnLst/>
              <a:rect l="l" t="t" r="r" b="b"/>
              <a:pathLst>
                <a:path w="6327775" h="400050">
                  <a:moveTo>
                    <a:pt x="6327600" y="400050"/>
                  </a:moveTo>
                  <a:lnTo>
                    <a:pt x="0" y="400050"/>
                  </a:lnTo>
                  <a:lnTo>
                    <a:pt x="0" y="0"/>
                  </a:lnTo>
                  <a:lnTo>
                    <a:pt x="6327600" y="0"/>
                  </a:lnTo>
                  <a:lnTo>
                    <a:pt x="6327600" y="400050"/>
                  </a:lnTo>
                  <a:close/>
                </a:path>
              </a:pathLst>
            </a:custGeom>
            <a:solidFill>
              <a:srgbClr val="EFF4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bg object 17">
              <a:extLst>
                <a:ext uri="{FF2B5EF4-FFF2-40B4-BE49-F238E27FC236}">
                  <a16:creationId xmlns:a16="http://schemas.microsoft.com/office/drawing/2014/main" id="{771FED39-58B5-4C59-9F8E-531890D16266}"/>
                </a:ext>
              </a:extLst>
            </p:cNvPr>
            <p:cNvSpPr/>
            <p:nvPr/>
          </p:nvSpPr>
          <p:spPr>
            <a:xfrm>
              <a:off x="616199" y="709250"/>
              <a:ext cx="47625" cy="400050"/>
            </a:xfrm>
            <a:custGeom>
              <a:avLst/>
              <a:gdLst/>
              <a:ahLst/>
              <a:cxnLst/>
              <a:rect l="l" t="t" r="r" b="b"/>
              <a:pathLst>
                <a:path w="47625" h="400050">
                  <a:moveTo>
                    <a:pt x="47625" y="400050"/>
                  </a:moveTo>
                  <a:lnTo>
                    <a:pt x="0" y="400050"/>
                  </a:lnTo>
                  <a:lnTo>
                    <a:pt x="0" y="0"/>
                  </a:lnTo>
                  <a:lnTo>
                    <a:pt x="47625" y="0"/>
                  </a:lnTo>
                  <a:lnTo>
                    <a:pt x="47625" y="400050"/>
                  </a:lnTo>
                  <a:close/>
                </a:path>
              </a:pathLst>
            </a:custGeom>
            <a:solidFill>
              <a:srgbClr val="004B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965AB8E-E560-446D-A7CD-56CFC10F229C}"/>
                </a:ext>
              </a:extLst>
            </p:cNvPr>
            <p:cNvSpPr txBox="1"/>
            <p:nvPr/>
          </p:nvSpPr>
          <p:spPr>
            <a:xfrm>
              <a:off x="533399" y="739998"/>
              <a:ext cx="631156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55575">
                <a:lnSpc>
                  <a:spcPct val="100000"/>
                </a:lnSpc>
              </a:pPr>
              <a:r>
                <a:rPr lang="en-US" altLang="ko-KR" sz="1600" b="1" spc="50" dirty="0">
                  <a:solidFill>
                    <a:srgbClr val="004B9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Malgun Gothic"/>
                </a:rPr>
                <a:t>5. </a:t>
              </a:r>
              <a:r>
                <a:rPr lang="ko-KR" altLang="en-US" sz="1600" b="1" spc="50" dirty="0">
                  <a:solidFill>
                    <a:srgbClr val="004B9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Malgun Gothic"/>
                </a:rPr>
                <a:t>배포 및 실행 스케줄 제어 </a:t>
              </a:r>
              <a:r>
                <a:rPr lang="en-US" altLang="ko-KR" sz="1600" b="1" spc="50" dirty="0">
                  <a:solidFill>
                    <a:srgbClr val="004B9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Malgun Gothic"/>
                </a:rPr>
                <a:t>(Deployment &amp; Scheduling)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D02C9A71-32DF-4BAE-A2CE-DD772FE3E800}"/>
              </a:ext>
            </a:extLst>
          </p:cNvPr>
          <p:cNvGrpSpPr/>
          <p:nvPr/>
        </p:nvGrpSpPr>
        <p:grpSpPr>
          <a:xfrm>
            <a:off x="596713" y="8742664"/>
            <a:ext cx="6351905" cy="1048413"/>
            <a:chOff x="651248" y="8489667"/>
            <a:chExt cx="6351905" cy="1048413"/>
          </a:xfrm>
        </p:grpSpPr>
        <p:grpSp>
          <p:nvGrpSpPr>
            <p:cNvPr id="12" name="object 12"/>
            <p:cNvGrpSpPr/>
            <p:nvPr/>
          </p:nvGrpSpPr>
          <p:grpSpPr>
            <a:xfrm>
              <a:off x="663313" y="8515730"/>
              <a:ext cx="6327775" cy="1022350"/>
              <a:chOff x="616199" y="8036213"/>
              <a:chExt cx="6327775" cy="1022350"/>
            </a:xfrm>
          </p:grpSpPr>
          <p:sp>
            <p:nvSpPr>
              <p:cNvPr id="13" name="object 13"/>
              <p:cNvSpPr/>
              <p:nvPr/>
            </p:nvSpPr>
            <p:spPr>
              <a:xfrm>
                <a:off x="616199" y="8036213"/>
                <a:ext cx="6327775" cy="1022350"/>
              </a:xfrm>
              <a:custGeom>
                <a:avLst/>
                <a:gdLst/>
                <a:ahLst/>
                <a:cxnLst/>
                <a:rect l="l" t="t" r="r" b="b"/>
                <a:pathLst>
                  <a:path w="6327775" h="1022350">
                    <a:moveTo>
                      <a:pt x="6289501" y="1022346"/>
                    </a:moveTo>
                    <a:lnTo>
                      <a:pt x="38100" y="1022346"/>
                    </a:lnTo>
                    <a:lnTo>
                      <a:pt x="23306" y="1019340"/>
                    </a:lnTo>
                    <a:lnTo>
                      <a:pt x="11191" y="1011154"/>
                    </a:lnTo>
                    <a:lnTo>
                      <a:pt x="3006" y="999040"/>
                    </a:lnTo>
                    <a:lnTo>
                      <a:pt x="0" y="984246"/>
                    </a:lnTo>
                    <a:lnTo>
                      <a:pt x="0" y="38100"/>
                    </a:lnTo>
                    <a:lnTo>
                      <a:pt x="3006" y="23306"/>
                    </a:lnTo>
                    <a:lnTo>
                      <a:pt x="11191" y="11191"/>
                    </a:lnTo>
                    <a:lnTo>
                      <a:pt x="23306" y="3006"/>
                    </a:lnTo>
                    <a:lnTo>
                      <a:pt x="38100" y="0"/>
                    </a:lnTo>
                    <a:lnTo>
                      <a:pt x="6289501" y="0"/>
                    </a:lnTo>
                    <a:lnTo>
                      <a:pt x="6304295" y="3006"/>
                    </a:lnTo>
                    <a:lnTo>
                      <a:pt x="6316409" y="11191"/>
                    </a:lnTo>
                    <a:lnTo>
                      <a:pt x="6324595" y="23306"/>
                    </a:lnTo>
                    <a:lnTo>
                      <a:pt x="6327601" y="38100"/>
                    </a:lnTo>
                    <a:lnTo>
                      <a:pt x="6327601" y="984246"/>
                    </a:lnTo>
                    <a:lnTo>
                      <a:pt x="6324595" y="999040"/>
                    </a:lnTo>
                    <a:lnTo>
                      <a:pt x="6316409" y="1011154"/>
                    </a:lnTo>
                    <a:lnTo>
                      <a:pt x="6304295" y="1019340"/>
                    </a:lnTo>
                    <a:lnTo>
                      <a:pt x="6289501" y="1022346"/>
                    </a:lnTo>
                    <a:close/>
                  </a:path>
                </a:pathLst>
              </a:custGeom>
              <a:solidFill>
                <a:srgbClr val="F4F6F7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" name="object 14"/>
              <p:cNvSpPr/>
              <p:nvPr/>
            </p:nvSpPr>
            <p:spPr>
              <a:xfrm>
                <a:off x="616199" y="8036214"/>
                <a:ext cx="6327775" cy="1022350"/>
              </a:xfrm>
              <a:custGeom>
                <a:avLst/>
                <a:gdLst/>
                <a:ahLst/>
                <a:cxnLst/>
                <a:rect l="l" t="t" r="r" b="b"/>
                <a:pathLst>
                  <a:path w="6327775" h="1022350">
                    <a:moveTo>
                      <a:pt x="6289501" y="1022346"/>
                    </a:moveTo>
                    <a:lnTo>
                      <a:pt x="38100" y="1022346"/>
                    </a:lnTo>
                    <a:lnTo>
                      <a:pt x="23306" y="1019340"/>
                    </a:lnTo>
                    <a:lnTo>
                      <a:pt x="11191" y="1011154"/>
                    </a:lnTo>
                    <a:lnTo>
                      <a:pt x="3006" y="999040"/>
                    </a:lnTo>
                    <a:lnTo>
                      <a:pt x="0" y="984246"/>
                    </a:lnTo>
                    <a:lnTo>
                      <a:pt x="0" y="38100"/>
                    </a:lnTo>
                    <a:lnTo>
                      <a:pt x="3006" y="23306"/>
                    </a:lnTo>
                    <a:lnTo>
                      <a:pt x="11191" y="11191"/>
                    </a:lnTo>
                    <a:lnTo>
                      <a:pt x="23306" y="3006"/>
                    </a:lnTo>
                    <a:lnTo>
                      <a:pt x="38100" y="0"/>
                    </a:lnTo>
                    <a:lnTo>
                      <a:pt x="6289501" y="0"/>
                    </a:lnTo>
                    <a:lnTo>
                      <a:pt x="6304295" y="3006"/>
                    </a:lnTo>
                    <a:lnTo>
                      <a:pt x="6313942" y="9525"/>
                    </a:lnTo>
                    <a:lnTo>
                      <a:pt x="38100" y="9525"/>
                    </a:lnTo>
                    <a:lnTo>
                      <a:pt x="27004" y="11779"/>
                    </a:lnTo>
                    <a:lnTo>
                      <a:pt x="17918" y="17918"/>
                    </a:lnTo>
                    <a:lnTo>
                      <a:pt x="11779" y="27004"/>
                    </a:lnTo>
                    <a:lnTo>
                      <a:pt x="9525" y="38100"/>
                    </a:lnTo>
                    <a:lnTo>
                      <a:pt x="9525" y="984246"/>
                    </a:lnTo>
                    <a:lnTo>
                      <a:pt x="11779" y="995341"/>
                    </a:lnTo>
                    <a:lnTo>
                      <a:pt x="17918" y="1004427"/>
                    </a:lnTo>
                    <a:lnTo>
                      <a:pt x="27004" y="1010567"/>
                    </a:lnTo>
                    <a:lnTo>
                      <a:pt x="38100" y="1012821"/>
                    </a:lnTo>
                    <a:lnTo>
                      <a:pt x="6313942" y="1012821"/>
                    </a:lnTo>
                    <a:lnTo>
                      <a:pt x="6304295" y="1019340"/>
                    </a:lnTo>
                    <a:lnTo>
                      <a:pt x="6289501" y="1022346"/>
                    </a:lnTo>
                    <a:close/>
                  </a:path>
                  <a:path w="6327775" h="1022350">
                    <a:moveTo>
                      <a:pt x="6313942" y="1012821"/>
                    </a:moveTo>
                    <a:lnTo>
                      <a:pt x="6289501" y="1012821"/>
                    </a:lnTo>
                    <a:lnTo>
                      <a:pt x="6300596" y="1010567"/>
                    </a:lnTo>
                    <a:lnTo>
                      <a:pt x="6309682" y="1004427"/>
                    </a:lnTo>
                    <a:lnTo>
                      <a:pt x="6315821" y="995341"/>
                    </a:lnTo>
                    <a:lnTo>
                      <a:pt x="6318076" y="984246"/>
                    </a:lnTo>
                    <a:lnTo>
                      <a:pt x="6318076" y="38100"/>
                    </a:lnTo>
                    <a:lnTo>
                      <a:pt x="6315821" y="27004"/>
                    </a:lnTo>
                    <a:lnTo>
                      <a:pt x="6309682" y="17918"/>
                    </a:lnTo>
                    <a:lnTo>
                      <a:pt x="6300596" y="11779"/>
                    </a:lnTo>
                    <a:lnTo>
                      <a:pt x="6289501" y="9525"/>
                    </a:lnTo>
                    <a:lnTo>
                      <a:pt x="6313942" y="9525"/>
                    </a:lnTo>
                    <a:lnTo>
                      <a:pt x="6316409" y="11191"/>
                    </a:lnTo>
                    <a:lnTo>
                      <a:pt x="6324595" y="23306"/>
                    </a:lnTo>
                    <a:lnTo>
                      <a:pt x="6327601" y="38100"/>
                    </a:lnTo>
                    <a:lnTo>
                      <a:pt x="6327601" y="984246"/>
                    </a:lnTo>
                    <a:lnTo>
                      <a:pt x="6324595" y="999040"/>
                    </a:lnTo>
                    <a:lnTo>
                      <a:pt x="6316409" y="1011154"/>
                    </a:lnTo>
                    <a:lnTo>
                      <a:pt x="6313942" y="1012821"/>
                    </a:lnTo>
                    <a:close/>
                  </a:path>
                </a:pathLst>
              </a:custGeom>
              <a:solidFill>
                <a:srgbClr val="E9E9E9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37" name="object 17">
              <a:extLst>
                <a:ext uri="{FF2B5EF4-FFF2-40B4-BE49-F238E27FC236}">
                  <a16:creationId xmlns:a16="http://schemas.microsoft.com/office/drawing/2014/main" id="{BEDAE149-9880-44BD-BAE3-ACCC72AF537B}"/>
                </a:ext>
              </a:extLst>
            </p:cNvPr>
            <p:cNvSpPr txBox="1"/>
            <p:nvPr/>
          </p:nvSpPr>
          <p:spPr>
            <a:xfrm>
              <a:off x="651248" y="8489667"/>
              <a:ext cx="6351905" cy="91140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705"/>
                </a:spcBef>
              </a:pPr>
              <a:endParaRPr sz="1000" dirty="0">
                <a:latin typeface="+mn-ea"/>
                <a:ea typeface="+mn-ea"/>
                <a:cs typeface="Malgun Gothic"/>
              </a:endParaRPr>
            </a:p>
            <a:p>
              <a:pPr marL="117475" algn="just">
                <a:lnSpc>
                  <a:spcPct val="100000"/>
                </a:lnSpc>
              </a:pPr>
              <a:r>
                <a:rPr sz="1000" b="1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방법</a:t>
              </a:r>
              <a:r>
                <a:rPr sz="1000" b="1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80" dirty="0">
                  <a:solidFill>
                    <a:srgbClr val="333333"/>
                  </a:solidFill>
                  <a:latin typeface="+mn-ea"/>
                  <a:ea typeface="+mn-ea"/>
                  <a:cs typeface="Arial Black"/>
                </a:rPr>
                <a:t>B:</a:t>
              </a:r>
              <a:r>
                <a:rPr sz="1000" spc="-70" dirty="0">
                  <a:solidFill>
                    <a:srgbClr val="333333"/>
                  </a:solidFill>
                  <a:latin typeface="+mn-ea"/>
                  <a:ea typeface="+mn-ea"/>
                  <a:cs typeface="Arial Black"/>
                </a:rPr>
                <a:t> </a:t>
              </a:r>
              <a:r>
                <a:rPr sz="1000" b="1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타겟</a:t>
              </a:r>
              <a:r>
                <a:rPr sz="1000" b="1" spc="-7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b="1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타임</a:t>
              </a:r>
              <a:r>
                <a:rPr sz="1000" b="1" spc="-7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b="1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기반</a:t>
              </a:r>
              <a:r>
                <a:rPr sz="1000" b="1" spc="-7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b="1" spc="-8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스케줄링</a:t>
              </a:r>
              <a:r>
                <a:rPr sz="1000" b="1" spc="-7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b="1" spc="-6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(지정</a:t>
              </a:r>
              <a:r>
                <a:rPr sz="1000" b="1" spc="-7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b="1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시간</a:t>
              </a:r>
              <a:r>
                <a:rPr sz="1000" b="1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b="1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특정</a:t>
              </a:r>
              <a:r>
                <a:rPr sz="1000" b="1" spc="-7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b="1" spc="-2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실행)</a:t>
              </a:r>
              <a:endParaRPr sz="1000" dirty="0">
                <a:latin typeface="+mn-ea"/>
                <a:ea typeface="+mn-ea"/>
                <a:cs typeface="Malgun Gothic"/>
              </a:endParaRPr>
            </a:p>
            <a:p>
              <a:pPr marL="117475" marR="201295" algn="just">
                <a:lnSpc>
                  <a:spcPct val="133300"/>
                </a:lnSpc>
              </a:pPr>
              <a:r>
                <a:rPr sz="1000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사내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업무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집중도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및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피크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타임을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고려하여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지정된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타겟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4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시점(예: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오전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3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09시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1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10분,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오후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3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13시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3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10분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등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하루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5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2~3회)에</a:t>
              </a:r>
              <a:r>
                <a:rPr sz="1000" spc="-2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lang="ko-KR" altLang="en-US" sz="1000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작업 스케줄러가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6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동작합니다.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해당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시각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정각에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서버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상태를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파악하여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서약이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누락되었거나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당일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재인증이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필요</a:t>
              </a:r>
              <a:r>
                <a:rPr sz="1000" spc="-3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한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경우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팝업을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6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발생시킵니다.</a:t>
              </a:r>
              <a:endParaRPr sz="1000" dirty="0">
                <a:latin typeface="+mn-ea"/>
                <a:ea typeface="+mn-ea"/>
                <a:cs typeface="Malgun Gothic"/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7E9E325D-62DF-472F-90BC-64E1C418DC77}"/>
              </a:ext>
            </a:extLst>
          </p:cNvPr>
          <p:cNvGrpSpPr/>
          <p:nvPr/>
        </p:nvGrpSpPr>
        <p:grpSpPr>
          <a:xfrm>
            <a:off x="596713" y="7785100"/>
            <a:ext cx="6351905" cy="825500"/>
            <a:chOff x="651248" y="7614284"/>
            <a:chExt cx="6351905" cy="825500"/>
          </a:xfrm>
        </p:grpSpPr>
        <p:grpSp>
          <p:nvGrpSpPr>
            <p:cNvPr id="9" name="object 9"/>
            <p:cNvGrpSpPr/>
            <p:nvPr/>
          </p:nvGrpSpPr>
          <p:grpSpPr>
            <a:xfrm>
              <a:off x="663313" y="7614284"/>
              <a:ext cx="6327775" cy="825500"/>
              <a:chOff x="616199" y="7134767"/>
              <a:chExt cx="6327775" cy="825500"/>
            </a:xfrm>
          </p:grpSpPr>
          <p:sp>
            <p:nvSpPr>
              <p:cNvPr id="10" name="object 10"/>
              <p:cNvSpPr/>
              <p:nvPr/>
            </p:nvSpPr>
            <p:spPr>
              <a:xfrm>
                <a:off x="616199" y="7134767"/>
                <a:ext cx="6327775" cy="825500"/>
              </a:xfrm>
              <a:custGeom>
                <a:avLst/>
                <a:gdLst/>
                <a:ahLst/>
                <a:cxnLst/>
                <a:rect l="l" t="t" r="r" b="b"/>
                <a:pathLst>
                  <a:path w="6327775" h="825500">
                    <a:moveTo>
                      <a:pt x="6289501" y="825246"/>
                    </a:moveTo>
                    <a:lnTo>
                      <a:pt x="38100" y="825246"/>
                    </a:lnTo>
                    <a:lnTo>
                      <a:pt x="23306" y="822239"/>
                    </a:lnTo>
                    <a:lnTo>
                      <a:pt x="11191" y="814054"/>
                    </a:lnTo>
                    <a:lnTo>
                      <a:pt x="3006" y="801939"/>
                    </a:lnTo>
                    <a:lnTo>
                      <a:pt x="0" y="787146"/>
                    </a:lnTo>
                    <a:lnTo>
                      <a:pt x="0" y="38100"/>
                    </a:lnTo>
                    <a:lnTo>
                      <a:pt x="3006" y="23306"/>
                    </a:lnTo>
                    <a:lnTo>
                      <a:pt x="11191" y="11191"/>
                    </a:lnTo>
                    <a:lnTo>
                      <a:pt x="23306" y="3006"/>
                    </a:lnTo>
                    <a:lnTo>
                      <a:pt x="38100" y="0"/>
                    </a:lnTo>
                    <a:lnTo>
                      <a:pt x="6289501" y="0"/>
                    </a:lnTo>
                    <a:lnTo>
                      <a:pt x="6304295" y="3006"/>
                    </a:lnTo>
                    <a:lnTo>
                      <a:pt x="6316409" y="11191"/>
                    </a:lnTo>
                    <a:lnTo>
                      <a:pt x="6324595" y="23306"/>
                    </a:lnTo>
                    <a:lnTo>
                      <a:pt x="6327601" y="38100"/>
                    </a:lnTo>
                    <a:lnTo>
                      <a:pt x="6327601" y="787146"/>
                    </a:lnTo>
                    <a:lnTo>
                      <a:pt x="6324595" y="801939"/>
                    </a:lnTo>
                    <a:lnTo>
                      <a:pt x="6316409" y="814054"/>
                    </a:lnTo>
                    <a:lnTo>
                      <a:pt x="6304295" y="822239"/>
                    </a:lnTo>
                    <a:lnTo>
                      <a:pt x="6289501" y="825246"/>
                    </a:lnTo>
                    <a:close/>
                  </a:path>
                </a:pathLst>
              </a:custGeom>
              <a:solidFill>
                <a:srgbClr val="F4F6F7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11" name="object 11"/>
              <p:cNvSpPr/>
              <p:nvPr/>
            </p:nvSpPr>
            <p:spPr>
              <a:xfrm>
                <a:off x="616199" y="7134768"/>
                <a:ext cx="6327775" cy="825500"/>
              </a:xfrm>
              <a:custGeom>
                <a:avLst/>
                <a:gdLst/>
                <a:ahLst/>
                <a:cxnLst/>
                <a:rect l="l" t="t" r="r" b="b"/>
                <a:pathLst>
                  <a:path w="6327775" h="825500">
                    <a:moveTo>
                      <a:pt x="6289501" y="825246"/>
                    </a:moveTo>
                    <a:lnTo>
                      <a:pt x="38100" y="825246"/>
                    </a:lnTo>
                    <a:lnTo>
                      <a:pt x="23306" y="822239"/>
                    </a:lnTo>
                    <a:lnTo>
                      <a:pt x="11191" y="814054"/>
                    </a:lnTo>
                    <a:lnTo>
                      <a:pt x="3006" y="801939"/>
                    </a:lnTo>
                    <a:lnTo>
                      <a:pt x="0" y="787146"/>
                    </a:lnTo>
                    <a:lnTo>
                      <a:pt x="0" y="38100"/>
                    </a:lnTo>
                    <a:lnTo>
                      <a:pt x="3006" y="23306"/>
                    </a:lnTo>
                    <a:lnTo>
                      <a:pt x="11191" y="11191"/>
                    </a:lnTo>
                    <a:lnTo>
                      <a:pt x="23306" y="3006"/>
                    </a:lnTo>
                    <a:lnTo>
                      <a:pt x="38100" y="0"/>
                    </a:lnTo>
                    <a:lnTo>
                      <a:pt x="6289501" y="0"/>
                    </a:lnTo>
                    <a:lnTo>
                      <a:pt x="6304295" y="3006"/>
                    </a:lnTo>
                    <a:lnTo>
                      <a:pt x="6313942" y="9525"/>
                    </a:lnTo>
                    <a:lnTo>
                      <a:pt x="38100" y="9525"/>
                    </a:lnTo>
                    <a:lnTo>
                      <a:pt x="27004" y="11779"/>
                    </a:lnTo>
                    <a:lnTo>
                      <a:pt x="17918" y="17918"/>
                    </a:lnTo>
                    <a:lnTo>
                      <a:pt x="11779" y="27004"/>
                    </a:lnTo>
                    <a:lnTo>
                      <a:pt x="9525" y="38100"/>
                    </a:lnTo>
                    <a:lnTo>
                      <a:pt x="9525" y="787146"/>
                    </a:lnTo>
                    <a:lnTo>
                      <a:pt x="11779" y="798241"/>
                    </a:lnTo>
                    <a:lnTo>
                      <a:pt x="17918" y="807327"/>
                    </a:lnTo>
                    <a:lnTo>
                      <a:pt x="27004" y="813466"/>
                    </a:lnTo>
                    <a:lnTo>
                      <a:pt x="38100" y="815721"/>
                    </a:lnTo>
                    <a:lnTo>
                      <a:pt x="6313942" y="815721"/>
                    </a:lnTo>
                    <a:lnTo>
                      <a:pt x="6304295" y="822239"/>
                    </a:lnTo>
                    <a:lnTo>
                      <a:pt x="6289501" y="825246"/>
                    </a:lnTo>
                    <a:close/>
                  </a:path>
                  <a:path w="6327775" h="825500">
                    <a:moveTo>
                      <a:pt x="6313942" y="815721"/>
                    </a:moveTo>
                    <a:lnTo>
                      <a:pt x="6289501" y="815721"/>
                    </a:lnTo>
                    <a:lnTo>
                      <a:pt x="6300596" y="813466"/>
                    </a:lnTo>
                    <a:lnTo>
                      <a:pt x="6309682" y="807327"/>
                    </a:lnTo>
                    <a:lnTo>
                      <a:pt x="6315821" y="798241"/>
                    </a:lnTo>
                    <a:lnTo>
                      <a:pt x="6318076" y="787146"/>
                    </a:lnTo>
                    <a:lnTo>
                      <a:pt x="6318076" y="38100"/>
                    </a:lnTo>
                    <a:lnTo>
                      <a:pt x="6315821" y="27004"/>
                    </a:lnTo>
                    <a:lnTo>
                      <a:pt x="6309682" y="17918"/>
                    </a:lnTo>
                    <a:lnTo>
                      <a:pt x="6300596" y="11779"/>
                    </a:lnTo>
                    <a:lnTo>
                      <a:pt x="6289501" y="9525"/>
                    </a:lnTo>
                    <a:lnTo>
                      <a:pt x="6313942" y="9525"/>
                    </a:lnTo>
                    <a:lnTo>
                      <a:pt x="6316409" y="11191"/>
                    </a:lnTo>
                    <a:lnTo>
                      <a:pt x="6324595" y="23306"/>
                    </a:lnTo>
                    <a:lnTo>
                      <a:pt x="6327601" y="38100"/>
                    </a:lnTo>
                    <a:lnTo>
                      <a:pt x="6327601" y="787146"/>
                    </a:lnTo>
                    <a:lnTo>
                      <a:pt x="6324595" y="801939"/>
                    </a:lnTo>
                    <a:lnTo>
                      <a:pt x="6316409" y="814054"/>
                    </a:lnTo>
                    <a:lnTo>
                      <a:pt x="6313942" y="815721"/>
                    </a:lnTo>
                    <a:close/>
                  </a:path>
                </a:pathLst>
              </a:custGeom>
              <a:solidFill>
                <a:srgbClr val="E9E9E9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sp>
          <p:nvSpPr>
            <p:cNvPr id="38" name="object 17">
              <a:extLst>
                <a:ext uri="{FF2B5EF4-FFF2-40B4-BE49-F238E27FC236}">
                  <a16:creationId xmlns:a16="http://schemas.microsoft.com/office/drawing/2014/main" id="{1C81B941-31A9-4B1B-8A78-FA46228B45F9}"/>
                </a:ext>
              </a:extLst>
            </p:cNvPr>
            <p:cNvSpPr txBox="1"/>
            <p:nvPr/>
          </p:nvSpPr>
          <p:spPr>
            <a:xfrm>
              <a:off x="651248" y="7703960"/>
              <a:ext cx="6351905" cy="589007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17475" algn="just">
                <a:lnSpc>
                  <a:spcPct val="100000"/>
                </a:lnSpc>
              </a:pPr>
              <a:r>
                <a:rPr sz="1000" b="1" spc="-80" dirty="0" err="1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방법</a:t>
              </a:r>
              <a:r>
                <a:rPr sz="1000" b="1" spc="-7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Arial Black"/>
                </a:rPr>
                <a:t>A:</a:t>
              </a:r>
              <a:r>
                <a:rPr sz="1000" spc="-65" dirty="0">
                  <a:solidFill>
                    <a:srgbClr val="333333"/>
                  </a:solidFill>
                  <a:latin typeface="+mn-ea"/>
                  <a:ea typeface="+mn-ea"/>
                  <a:cs typeface="Arial Black"/>
                </a:rPr>
                <a:t> </a:t>
              </a:r>
              <a:r>
                <a:rPr sz="1000" b="1" spc="-8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인터벌</a:t>
              </a:r>
              <a:r>
                <a:rPr sz="1000" b="1" spc="-6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b="1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기반</a:t>
              </a:r>
              <a:r>
                <a:rPr sz="1000" b="1" spc="-6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b="1" spc="-8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스케줄링</a:t>
              </a:r>
              <a:r>
                <a:rPr sz="1000" b="1" spc="-7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b="1" spc="-4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(1시간</a:t>
              </a:r>
              <a:r>
                <a:rPr sz="1000" b="1" spc="-6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b="1" spc="-2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주기)</a:t>
              </a:r>
              <a:endParaRPr sz="1000" dirty="0">
                <a:latin typeface="+mn-ea"/>
                <a:ea typeface="+mn-ea"/>
                <a:cs typeface="Malgun Gothic"/>
              </a:endParaRPr>
            </a:p>
            <a:p>
              <a:pPr marL="117475" marR="193040" algn="just">
                <a:lnSpc>
                  <a:spcPts val="1650"/>
                </a:lnSpc>
                <a:spcBef>
                  <a:spcPts val="80"/>
                </a:spcBef>
              </a:pPr>
              <a:r>
                <a:rPr sz="1000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프로그램이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백그라운드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데몬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형태로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상주하며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매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2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1시간(60분)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마다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중앙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서버의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dirty="0">
                  <a:solidFill>
                    <a:srgbClr val="333333"/>
                  </a:solidFill>
                  <a:latin typeface="+mn-ea"/>
                  <a:ea typeface="+mn-ea"/>
                  <a:cs typeface="Courier New"/>
                </a:rPr>
                <a:t>/</a:t>
              </a:r>
              <a:r>
                <a:rPr sz="1000" dirty="0" err="1">
                  <a:solidFill>
                    <a:srgbClr val="333333"/>
                  </a:solidFill>
                  <a:latin typeface="+mn-ea"/>
                  <a:ea typeface="+mn-ea"/>
                  <a:cs typeface="Courier New"/>
                </a:rPr>
                <a:t>api</a:t>
              </a:r>
              <a:r>
                <a:rPr sz="1000" dirty="0">
                  <a:solidFill>
                    <a:srgbClr val="333333"/>
                  </a:solidFill>
                  <a:latin typeface="+mn-ea"/>
                  <a:ea typeface="+mn-ea"/>
                  <a:cs typeface="Courier New"/>
                </a:rPr>
                <a:t>/</a:t>
              </a:r>
              <a:r>
                <a:rPr lang="en-US" sz="1000" dirty="0">
                  <a:solidFill>
                    <a:srgbClr val="333333"/>
                  </a:solidFill>
                  <a:latin typeface="+mn-ea"/>
                  <a:ea typeface="+mn-ea"/>
                  <a:cs typeface="Courier New"/>
                </a:rPr>
                <a:t>current-</a:t>
              </a:r>
              <a:r>
                <a:rPr lang="en-US" sz="1000" dirty="0" err="1">
                  <a:solidFill>
                    <a:srgbClr val="333333"/>
                  </a:solidFill>
                  <a:latin typeface="+mn-ea"/>
                  <a:ea typeface="+mn-ea"/>
                  <a:cs typeface="Courier New"/>
                </a:rPr>
                <a:t>agreement</a:t>
              </a:r>
              <a:r>
                <a:rPr sz="1000" spc="-10" dirty="0" err="1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를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80" dirty="0" err="1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호출합</a:t>
              </a:r>
              <a:r>
                <a:rPr sz="1000" spc="-40" dirty="0" err="1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니다</a:t>
              </a:r>
              <a:r>
                <a:rPr sz="1000" spc="-4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.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현재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로그인한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사번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기준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4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'새로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동의해야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할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6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서약서'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플래그가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반환되면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80" dirty="0" err="1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즉시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lang="ko-KR" altLang="en-US" sz="1000" spc="-80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서약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80" dirty="0" err="1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화면을</a:t>
              </a:r>
              <a:r>
                <a:rPr sz="1000" spc="-7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 </a:t>
              </a:r>
              <a:r>
                <a:rPr sz="1000" spc="-65" dirty="0" err="1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활성화합니다</a:t>
              </a:r>
              <a:r>
                <a:rPr sz="1000" spc="-65" dirty="0">
                  <a:solidFill>
                    <a:srgbClr val="333333"/>
                  </a:solidFill>
                  <a:latin typeface="+mn-ea"/>
                  <a:ea typeface="+mn-ea"/>
                  <a:cs typeface="Malgun Gothic"/>
                </a:rPr>
                <a:t>.</a:t>
              </a:r>
              <a:endParaRPr sz="1000" dirty="0">
                <a:latin typeface="+mn-ea"/>
                <a:ea typeface="+mn-ea"/>
                <a:cs typeface="Malgun Gothic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0">
            <a:extLst>
              <a:ext uri="{FF2B5EF4-FFF2-40B4-BE49-F238E27FC236}">
                <a16:creationId xmlns:a16="http://schemas.microsoft.com/office/drawing/2014/main" id="{CE9706E4-87A4-408D-9899-BD3C6C846C5E}"/>
              </a:ext>
            </a:extLst>
          </p:cNvPr>
          <p:cNvSpPr/>
          <p:nvPr/>
        </p:nvSpPr>
        <p:spPr>
          <a:xfrm>
            <a:off x="535078" y="6060246"/>
            <a:ext cx="6408896" cy="1906094"/>
          </a:xfrm>
          <a:custGeom>
            <a:avLst/>
            <a:gdLst/>
            <a:ahLst/>
            <a:cxnLst/>
            <a:rect l="l" t="t" r="r" b="b"/>
            <a:pathLst>
              <a:path w="6327775" h="825500">
                <a:moveTo>
                  <a:pt x="6289501" y="825246"/>
                </a:moveTo>
                <a:lnTo>
                  <a:pt x="38100" y="825246"/>
                </a:lnTo>
                <a:lnTo>
                  <a:pt x="23306" y="822239"/>
                </a:lnTo>
                <a:lnTo>
                  <a:pt x="11191" y="814054"/>
                </a:lnTo>
                <a:lnTo>
                  <a:pt x="3006" y="801939"/>
                </a:lnTo>
                <a:lnTo>
                  <a:pt x="0" y="787146"/>
                </a:lnTo>
                <a:lnTo>
                  <a:pt x="0" y="38100"/>
                </a:lnTo>
                <a:lnTo>
                  <a:pt x="3006" y="23306"/>
                </a:lnTo>
                <a:lnTo>
                  <a:pt x="11191" y="11191"/>
                </a:lnTo>
                <a:lnTo>
                  <a:pt x="23306" y="3006"/>
                </a:lnTo>
                <a:lnTo>
                  <a:pt x="38100" y="0"/>
                </a:lnTo>
                <a:lnTo>
                  <a:pt x="6289501" y="0"/>
                </a:lnTo>
                <a:lnTo>
                  <a:pt x="6304295" y="3006"/>
                </a:lnTo>
                <a:lnTo>
                  <a:pt x="6316409" y="11191"/>
                </a:lnTo>
                <a:lnTo>
                  <a:pt x="6324595" y="23306"/>
                </a:lnTo>
                <a:lnTo>
                  <a:pt x="6327601" y="38100"/>
                </a:lnTo>
                <a:lnTo>
                  <a:pt x="6327601" y="787146"/>
                </a:lnTo>
                <a:lnTo>
                  <a:pt x="6324595" y="801939"/>
                </a:lnTo>
                <a:lnTo>
                  <a:pt x="6316409" y="814054"/>
                </a:lnTo>
                <a:lnTo>
                  <a:pt x="6304295" y="822239"/>
                </a:lnTo>
                <a:lnTo>
                  <a:pt x="6289501" y="825246"/>
                </a:lnTo>
                <a:close/>
              </a:path>
            </a:pathLst>
          </a:custGeom>
          <a:solidFill>
            <a:srgbClr val="F4F6F7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488836" y="289999"/>
            <a:ext cx="5441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70" dirty="0">
                <a:solidFill>
                  <a:srgbClr val="878787"/>
                </a:solidFill>
                <a:latin typeface="Malgun Gothic"/>
                <a:cs typeface="Malgun Gothic"/>
              </a:rPr>
              <a:t>페이지</a:t>
            </a:r>
            <a:r>
              <a:rPr sz="800" spc="-5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800" dirty="0">
                <a:solidFill>
                  <a:srgbClr val="878787"/>
                </a:solidFill>
                <a:latin typeface="Malgun Gothic"/>
                <a:cs typeface="Malgun Gothic"/>
              </a:rPr>
              <a:t>5</a:t>
            </a:r>
            <a:r>
              <a:rPr sz="800" spc="-5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800" dirty="0">
                <a:solidFill>
                  <a:srgbClr val="878787"/>
                </a:solidFill>
                <a:latin typeface="Malgun Gothic"/>
                <a:cs typeface="Malgun Gothic"/>
              </a:rPr>
              <a:t>/</a:t>
            </a:r>
            <a:r>
              <a:rPr sz="800" spc="-50" dirty="0">
                <a:solidFill>
                  <a:srgbClr val="878787"/>
                </a:solidFill>
                <a:latin typeface="Malgun Gothic"/>
                <a:cs typeface="Malgun Gothic"/>
              </a:rPr>
              <a:t> 5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B887E828-A8ED-416F-94B9-2A92D20EB2A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27298" y="10252557"/>
            <a:ext cx="2717551" cy="142988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pc="-114" dirty="0"/>
              <a:t>KB</a:t>
            </a:r>
            <a:r>
              <a:rPr spc="-25" dirty="0"/>
              <a:t> </a:t>
            </a:r>
            <a:r>
              <a:rPr lang="en-US" spc="-55" dirty="0"/>
              <a:t>Data System</a:t>
            </a:r>
            <a:r>
              <a:rPr spc="-25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60" dirty="0"/>
              <a:t>Compliance</a:t>
            </a:r>
            <a:r>
              <a:rPr spc="-25" dirty="0"/>
              <a:t> </a:t>
            </a:r>
            <a:r>
              <a:rPr lang="en-US" spc="-25" dirty="0"/>
              <a:t>Agreement</a:t>
            </a:r>
            <a:r>
              <a:rPr spc="-25" dirty="0"/>
              <a:t> </a:t>
            </a:r>
            <a:r>
              <a:rPr spc="-30" dirty="0"/>
              <a:t>Project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B30817E-EF3D-4D28-8F65-4D3889503A49}"/>
              </a:ext>
            </a:extLst>
          </p:cNvPr>
          <p:cNvGrpSpPr/>
          <p:nvPr/>
        </p:nvGrpSpPr>
        <p:grpSpPr>
          <a:xfrm>
            <a:off x="533399" y="666860"/>
            <a:ext cx="6410575" cy="400050"/>
            <a:chOff x="533399" y="709250"/>
            <a:chExt cx="6410575" cy="400050"/>
          </a:xfrm>
        </p:grpSpPr>
        <p:sp>
          <p:nvSpPr>
            <p:cNvPr id="7" name="bg object 16">
              <a:extLst>
                <a:ext uri="{FF2B5EF4-FFF2-40B4-BE49-F238E27FC236}">
                  <a16:creationId xmlns:a16="http://schemas.microsoft.com/office/drawing/2014/main" id="{D134678B-9B39-4B9A-923F-7D6963E2D8FF}"/>
                </a:ext>
              </a:extLst>
            </p:cNvPr>
            <p:cNvSpPr/>
            <p:nvPr/>
          </p:nvSpPr>
          <p:spPr>
            <a:xfrm>
              <a:off x="616199" y="709250"/>
              <a:ext cx="6327775" cy="400050"/>
            </a:xfrm>
            <a:custGeom>
              <a:avLst/>
              <a:gdLst/>
              <a:ahLst/>
              <a:cxnLst/>
              <a:rect l="l" t="t" r="r" b="b"/>
              <a:pathLst>
                <a:path w="6327775" h="400050">
                  <a:moveTo>
                    <a:pt x="6327600" y="400050"/>
                  </a:moveTo>
                  <a:lnTo>
                    <a:pt x="0" y="400050"/>
                  </a:lnTo>
                  <a:lnTo>
                    <a:pt x="0" y="0"/>
                  </a:lnTo>
                  <a:lnTo>
                    <a:pt x="6327600" y="0"/>
                  </a:lnTo>
                  <a:lnTo>
                    <a:pt x="6327600" y="400050"/>
                  </a:lnTo>
                  <a:close/>
                </a:path>
              </a:pathLst>
            </a:custGeom>
            <a:solidFill>
              <a:srgbClr val="EFF4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bg object 17">
              <a:extLst>
                <a:ext uri="{FF2B5EF4-FFF2-40B4-BE49-F238E27FC236}">
                  <a16:creationId xmlns:a16="http://schemas.microsoft.com/office/drawing/2014/main" id="{AA2FAE0B-30B5-4351-872E-1CDE5B00E356}"/>
                </a:ext>
              </a:extLst>
            </p:cNvPr>
            <p:cNvSpPr/>
            <p:nvPr/>
          </p:nvSpPr>
          <p:spPr>
            <a:xfrm>
              <a:off x="616199" y="709250"/>
              <a:ext cx="47625" cy="400050"/>
            </a:xfrm>
            <a:custGeom>
              <a:avLst/>
              <a:gdLst/>
              <a:ahLst/>
              <a:cxnLst/>
              <a:rect l="l" t="t" r="r" b="b"/>
              <a:pathLst>
                <a:path w="47625" h="400050">
                  <a:moveTo>
                    <a:pt x="47625" y="400050"/>
                  </a:moveTo>
                  <a:lnTo>
                    <a:pt x="0" y="400050"/>
                  </a:lnTo>
                  <a:lnTo>
                    <a:pt x="0" y="0"/>
                  </a:lnTo>
                  <a:lnTo>
                    <a:pt x="47625" y="0"/>
                  </a:lnTo>
                  <a:lnTo>
                    <a:pt x="47625" y="400050"/>
                  </a:lnTo>
                  <a:close/>
                </a:path>
              </a:pathLst>
            </a:custGeom>
            <a:solidFill>
              <a:srgbClr val="004B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49E4D70-8BFF-4E9B-AF3E-2746DAA006D5}"/>
                </a:ext>
              </a:extLst>
            </p:cNvPr>
            <p:cNvSpPr txBox="1"/>
            <p:nvPr/>
          </p:nvSpPr>
          <p:spPr>
            <a:xfrm>
              <a:off x="533399" y="739998"/>
              <a:ext cx="631156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55575">
                <a:lnSpc>
                  <a:spcPct val="100000"/>
                </a:lnSpc>
              </a:pPr>
              <a:r>
                <a:rPr lang="en-US" altLang="ko-KR" sz="1600" b="1" spc="50" dirty="0">
                  <a:solidFill>
                    <a:srgbClr val="004B9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Malgun Gothic"/>
                </a:rPr>
                <a:t>6. </a:t>
              </a:r>
              <a:r>
                <a:rPr lang="ko-KR" altLang="en-US" sz="1600" b="1" spc="50" dirty="0">
                  <a:solidFill>
                    <a:srgbClr val="004B9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Malgun Gothic"/>
                </a:rPr>
                <a:t>작업 스케줄링 기술 상세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endParaRPr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16BC1AA7-729B-459C-8E70-186C4300D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11" y="1296451"/>
            <a:ext cx="6303963" cy="3921862"/>
          </a:xfrm>
          <a:prstGeom prst="rect">
            <a:avLst/>
          </a:prstGeom>
        </p:spPr>
      </p:pic>
      <p:sp>
        <p:nvSpPr>
          <p:cNvPr id="11" name="object 7">
            <a:extLst>
              <a:ext uri="{FF2B5EF4-FFF2-40B4-BE49-F238E27FC236}">
                <a16:creationId xmlns:a16="http://schemas.microsoft.com/office/drawing/2014/main" id="{17DA4C90-3393-46CE-92F1-B7C4EC97C33D}"/>
              </a:ext>
            </a:extLst>
          </p:cNvPr>
          <p:cNvSpPr txBox="1"/>
          <p:nvPr/>
        </p:nvSpPr>
        <p:spPr>
          <a:xfrm>
            <a:off x="670606" y="5373255"/>
            <a:ext cx="6227611" cy="502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4480" lvl="1" indent="-271780">
              <a:lnSpc>
                <a:spcPct val="100000"/>
              </a:lnSpc>
              <a:spcBef>
                <a:spcPts val="2030"/>
              </a:spcBef>
              <a:buClr>
                <a:srgbClr val="333333"/>
              </a:buClr>
              <a:buFont typeface="Malgun Gothic"/>
              <a:buAutoNum type="arabicPeriod"/>
              <a:tabLst>
                <a:tab pos="284480" algn="l"/>
              </a:tabLst>
            </a:pPr>
            <a:r>
              <a:rPr lang="ko-KR" altLang="en-US" sz="1200" b="1" spc="-10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윈도우 작업 스케줄러 활용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  <a:p>
            <a:pPr marL="203200" marR="9525" lvl="2" indent="-71755">
              <a:lnSpc>
                <a:spcPct val="139800"/>
              </a:lnSpc>
              <a:spcBef>
                <a:spcPts val="855"/>
              </a:spcBef>
              <a:buClr>
                <a:srgbClr val="333333"/>
              </a:buClr>
              <a:buSzPct val="125000"/>
              <a:buFont typeface="Malgun Gothic"/>
              <a:buChar char="•"/>
              <a:tabLst>
                <a:tab pos="203200" algn="l"/>
                <a:tab pos="259715" algn="l"/>
              </a:tabLst>
            </a:pPr>
            <a:r>
              <a:rPr lang="ko-KR" altLang="en-US" sz="1000" b="1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en-US" altLang="ko-KR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Windows NT 4.0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부터 도입된 표준 스케줄링 엔진을 활용하여 </a:t>
            </a:r>
            <a:r>
              <a:rPr lang="en-US" altLang="ko-KR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Windows 7, 8, 10, 11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등 모든 사내 업무용 </a:t>
            </a:r>
            <a:r>
              <a:rPr lang="en-US" altLang="ko-KR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PC </a:t>
            </a:r>
            <a:r>
              <a:rPr lang="ko-KR" altLang="en-US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환경 지원</a:t>
            </a:r>
            <a:r>
              <a:rPr lang="en-US" altLang="ko-KR"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.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17ECD44-5783-4075-8850-F1D631402D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76"/>
          <a:stretch/>
        </p:blipFill>
        <p:spPr>
          <a:xfrm>
            <a:off x="676799" y="6588743"/>
            <a:ext cx="6155644" cy="444829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1168E80A-EAAD-4D07-8420-0CE4D36C31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799" y="7307035"/>
            <a:ext cx="3843433" cy="393079"/>
          </a:xfrm>
          <a:prstGeom prst="rect">
            <a:avLst/>
          </a:prstGeom>
        </p:spPr>
      </p:pic>
      <p:sp>
        <p:nvSpPr>
          <p:cNvPr id="22" name="object 7">
            <a:extLst>
              <a:ext uri="{FF2B5EF4-FFF2-40B4-BE49-F238E27FC236}">
                <a16:creationId xmlns:a16="http://schemas.microsoft.com/office/drawing/2014/main" id="{CFFAAB00-A5D2-4D77-84FE-66893A72B16E}"/>
              </a:ext>
            </a:extLst>
          </p:cNvPr>
          <p:cNvSpPr txBox="1"/>
          <p:nvPr/>
        </p:nvSpPr>
        <p:spPr>
          <a:xfrm>
            <a:off x="687911" y="6151914"/>
            <a:ext cx="6144532" cy="1580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3300"/>
              </a:lnSpc>
              <a:spcBef>
                <a:spcPts val="1360"/>
              </a:spcBef>
            </a:pPr>
            <a:r>
              <a:rPr lang="en-US" altLang="ko-KR" sz="800" b="1" dirty="0"/>
              <a:t>[HM</a:t>
            </a:r>
            <a:r>
              <a:rPr lang="ko-KR" altLang="en-US" sz="800" b="1" dirty="0"/>
              <a:t> </a:t>
            </a:r>
            <a:r>
              <a:rPr lang="en-US" altLang="ko-KR" sz="800" b="1" dirty="0"/>
              <a:t>NIS Edit </a:t>
            </a:r>
            <a:r>
              <a:rPr lang="ko-KR" altLang="en-US" sz="800" b="1"/>
              <a:t>스크립트 </a:t>
            </a:r>
            <a:r>
              <a:rPr lang="ko-KR" altLang="en-US" sz="800" b="1" dirty="0"/>
              <a:t>예시</a:t>
            </a:r>
            <a:r>
              <a:rPr lang="en-US" altLang="ko-KR" sz="800" b="1" dirty="0"/>
              <a:t>]</a:t>
            </a:r>
            <a:endParaRPr lang="en-US" altLang="ko-KR" sz="800" b="1" dirty="0">
              <a:solidFill>
                <a:srgbClr val="1F1F1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object 7">
            <a:extLst>
              <a:ext uri="{FF2B5EF4-FFF2-40B4-BE49-F238E27FC236}">
                <a16:creationId xmlns:a16="http://schemas.microsoft.com/office/drawing/2014/main" id="{5DB85E72-3F86-42EF-BA6F-549EA7DC74B7}"/>
              </a:ext>
            </a:extLst>
          </p:cNvPr>
          <p:cNvSpPr txBox="1"/>
          <p:nvPr/>
        </p:nvSpPr>
        <p:spPr>
          <a:xfrm>
            <a:off x="687911" y="6402261"/>
            <a:ext cx="6144532" cy="1644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0" marR="9525" lvl="2" indent="-71755">
              <a:lnSpc>
                <a:spcPct val="139800"/>
              </a:lnSpc>
              <a:spcBef>
                <a:spcPts val="855"/>
              </a:spcBef>
              <a:buClr>
                <a:srgbClr val="333333"/>
              </a:buClr>
              <a:buSzPct val="125000"/>
              <a:buFont typeface="Malgun Gothic"/>
              <a:buChar char="•"/>
              <a:tabLst>
                <a:tab pos="203200" algn="l"/>
                <a:tab pos="259715" algn="l"/>
              </a:tabLst>
            </a:pPr>
            <a:r>
              <a:rPr lang="ko-KR" altLang="en-US" sz="800" b="1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등록 </a:t>
            </a:r>
            <a:r>
              <a:rPr lang="en-US" altLang="ko-KR" sz="800" b="1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: </a:t>
            </a:r>
          </a:p>
        </p:txBody>
      </p:sp>
      <p:sp>
        <p:nvSpPr>
          <p:cNvPr id="26" name="object 7">
            <a:extLst>
              <a:ext uri="{FF2B5EF4-FFF2-40B4-BE49-F238E27FC236}">
                <a16:creationId xmlns:a16="http://schemas.microsoft.com/office/drawing/2014/main" id="{E88CEC22-7764-4686-B2BC-0F15C8E41A7A}"/>
              </a:ext>
            </a:extLst>
          </p:cNvPr>
          <p:cNvSpPr txBox="1"/>
          <p:nvPr/>
        </p:nvSpPr>
        <p:spPr>
          <a:xfrm>
            <a:off x="687911" y="7088073"/>
            <a:ext cx="6144532" cy="1644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0" marR="9525" lvl="2" indent="-71755">
              <a:lnSpc>
                <a:spcPct val="139800"/>
              </a:lnSpc>
              <a:spcBef>
                <a:spcPts val="855"/>
              </a:spcBef>
              <a:buClr>
                <a:srgbClr val="333333"/>
              </a:buClr>
              <a:buSzPct val="125000"/>
              <a:buFont typeface="Malgun Gothic"/>
              <a:buChar char="•"/>
              <a:tabLst>
                <a:tab pos="203200" algn="l"/>
                <a:tab pos="259715" algn="l"/>
              </a:tabLst>
            </a:pPr>
            <a:r>
              <a:rPr lang="ko-KR" altLang="en-US" sz="800" b="1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삭제 </a:t>
            </a:r>
            <a:r>
              <a:rPr lang="en-US" altLang="ko-KR" sz="800" b="1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571033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3824" y="1296451"/>
            <a:ext cx="6280150" cy="13715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2240" marR="27305" lvl="1" indent="-71755">
              <a:lnSpc>
                <a:spcPct val="133300"/>
              </a:lnSpc>
              <a:spcBef>
                <a:spcPts val="1355"/>
              </a:spcBef>
              <a:buFont typeface="Malgun Gothic"/>
              <a:buChar char="•"/>
              <a:tabLst>
                <a:tab pos="142240" algn="l"/>
              </a:tabLst>
            </a:pPr>
            <a:r>
              <a:rPr sz="1000" b="1" spc="-85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오프라인</a:t>
            </a:r>
            <a:r>
              <a:rPr sz="1000" b="1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b="1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예외</a:t>
            </a:r>
            <a:r>
              <a:rPr sz="1000" b="1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b="1" spc="-4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처리:</a:t>
            </a:r>
            <a:r>
              <a:rPr sz="1000" b="1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네트워크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장애</a:t>
            </a:r>
            <a:r>
              <a:rPr sz="1000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등으로</a:t>
            </a:r>
            <a:r>
              <a:rPr sz="1000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ucida Sans"/>
              </a:rPr>
              <a:t>API</a:t>
            </a:r>
            <a:r>
              <a:rPr sz="1000" spc="-5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ucida Sans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서버와</a:t>
            </a:r>
            <a:r>
              <a:rPr sz="1000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통신이</a:t>
            </a:r>
            <a:r>
              <a:rPr sz="1000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불가능할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4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경우,</a:t>
            </a:r>
            <a:r>
              <a:rPr sz="1000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사용자</a:t>
            </a:r>
            <a:r>
              <a:rPr sz="1000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업무</a:t>
            </a:r>
            <a:r>
              <a:rPr sz="1000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마비를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방지하기</a:t>
            </a:r>
            <a:r>
              <a:rPr sz="1000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위한</a:t>
            </a:r>
            <a:r>
              <a:rPr sz="1000" spc="-6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4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예외 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모드(로컬에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마지막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서약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캐싱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및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사후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전송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3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큐)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프로세스를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정립</a:t>
            </a:r>
            <a:r>
              <a:rPr sz="1000" spc="-2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.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  <a:p>
            <a:pPr marL="142240" marR="36195" lvl="1" indent="-71755">
              <a:lnSpc>
                <a:spcPct val="133300"/>
              </a:lnSpc>
              <a:spcBef>
                <a:spcPts val="375"/>
              </a:spcBef>
              <a:buFont typeface="Malgun Gothic"/>
              <a:buChar char="•"/>
              <a:tabLst>
                <a:tab pos="142240" algn="l"/>
              </a:tabLst>
            </a:pPr>
            <a:r>
              <a:rPr sz="1000" b="1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우회</a:t>
            </a:r>
            <a:r>
              <a:rPr sz="1000" b="1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b="1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차단</a:t>
            </a:r>
            <a:r>
              <a:rPr sz="1000" b="1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b="1" spc="-4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강화:</a:t>
            </a:r>
            <a:r>
              <a:rPr sz="1000" b="1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기본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2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ucida Sans"/>
              </a:rPr>
              <a:t>UI</a:t>
            </a:r>
            <a:r>
              <a:rPr sz="1000" spc="-2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에서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구현된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4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ucida Sans"/>
              </a:rPr>
              <a:t>Alt+F4</a:t>
            </a:r>
            <a:r>
              <a:rPr sz="1000" spc="-5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ucida Sans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차단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4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외에,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작업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표시줄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강제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종료나</a:t>
            </a:r>
            <a:r>
              <a:rPr sz="1000" spc="-7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윈도우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단축키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우회를</a:t>
            </a:r>
            <a:r>
              <a:rPr sz="1000" spc="-6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000" spc="-85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방지</a:t>
            </a:r>
            <a:r>
              <a:rPr lang="en-US"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lang="ko-KR" altLang="en-US" sz="1000" spc="-85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방안 필요</a:t>
            </a:r>
            <a:r>
              <a:rPr lang="en-US" altLang="ko-KR" sz="1000" spc="-2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.</a:t>
            </a:r>
            <a:endParaRPr lang="en-US" sz="1000" spc="-20" dirty="0">
              <a:solidFill>
                <a:srgbClr val="333333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  <a:p>
            <a:pPr marL="142240" marR="36195" lvl="1" indent="-71755">
              <a:lnSpc>
                <a:spcPct val="133300"/>
              </a:lnSpc>
              <a:spcBef>
                <a:spcPts val="375"/>
              </a:spcBef>
              <a:buFont typeface="Malgun Gothic"/>
              <a:buChar char="•"/>
              <a:tabLst>
                <a:tab pos="142240" algn="l"/>
              </a:tabLst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여러 개의 서약 필요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: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2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개 이상의 서약에 동의가 필요할 경우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,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사용자의 화면에 서약을 어떻게 표시할 지 프로세스를 정립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.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</a:p>
          <a:p>
            <a:pPr marL="142240" marR="36195" lvl="1" indent="-71755">
              <a:lnSpc>
                <a:spcPct val="133300"/>
              </a:lnSpc>
              <a:spcBef>
                <a:spcPts val="375"/>
              </a:spcBef>
              <a:buFont typeface="Malgun Gothic"/>
              <a:buChar char="•"/>
              <a:tabLst>
                <a:tab pos="142240" algn="l"/>
              </a:tabLst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업무 방해 최소화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: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화상회의나 프레젠테이션 등 중요 업무 중 팝업노출로 인한 업무방해에 대한 논의 필요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.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88836" y="289999"/>
            <a:ext cx="5441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70" dirty="0">
                <a:solidFill>
                  <a:srgbClr val="878787"/>
                </a:solidFill>
                <a:latin typeface="Malgun Gothic"/>
                <a:cs typeface="Malgun Gothic"/>
              </a:rPr>
              <a:t>페이지</a:t>
            </a:r>
            <a:r>
              <a:rPr sz="800" spc="-5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800" dirty="0">
                <a:solidFill>
                  <a:srgbClr val="878787"/>
                </a:solidFill>
                <a:latin typeface="Malgun Gothic"/>
                <a:cs typeface="Malgun Gothic"/>
              </a:rPr>
              <a:t>5</a:t>
            </a:r>
            <a:r>
              <a:rPr sz="800" spc="-5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800" dirty="0">
                <a:solidFill>
                  <a:srgbClr val="878787"/>
                </a:solidFill>
                <a:latin typeface="Malgun Gothic"/>
                <a:cs typeface="Malgun Gothic"/>
              </a:rPr>
              <a:t>/</a:t>
            </a:r>
            <a:r>
              <a:rPr sz="800" spc="-50" dirty="0">
                <a:solidFill>
                  <a:srgbClr val="878787"/>
                </a:solidFill>
                <a:latin typeface="Malgun Gothic"/>
                <a:cs typeface="Malgun Gothic"/>
              </a:rPr>
              <a:t> 5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B887E828-A8ED-416F-94B9-2A92D20EB2A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27298" y="10252557"/>
            <a:ext cx="2717551" cy="142988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pc="-114" dirty="0"/>
              <a:t>KB</a:t>
            </a:r>
            <a:r>
              <a:rPr spc="-25" dirty="0"/>
              <a:t> </a:t>
            </a:r>
            <a:r>
              <a:rPr lang="en-US" spc="-55" dirty="0"/>
              <a:t>Data System</a:t>
            </a:r>
            <a:r>
              <a:rPr spc="-25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60" dirty="0"/>
              <a:t>Compliance</a:t>
            </a:r>
            <a:r>
              <a:rPr spc="-25" dirty="0"/>
              <a:t> </a:t>
            </a:r>
            <a:r>
              <a:rPr lang="en-US" spc="-25" dirty="0"/>
              <a:t>Agreement</a:t>
            </a:r>
            <a:r>
              <a:rPr spc="-25" dirty="0"/>
              <a:t> </a:t>
            </a:r>
            <a:r>
              <a:rPr spc="-30" dirty="0"/>
              <a:t>Project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B30817E-EF3D-4D28-8F65-4D3889503A49}"/>
              </a:ext>
            </a:extLst>
          </p:cNvPr>
          <p:cNvGrpSpPr/>
          <p:nvPr/>
        </p:nvGrpSpPr>
        <p:grpSpPr>
          <a:xfrm>
            <a:off x="533399" y="666860"/>
            <a:ext cx="6410575" cy="400050"/>
            <a:chOff x="533399" y="709250"/>
            <a:chExt cx="6410575" cy="400050"/>
          </a:xfrm>
        </p:grpSpPr>
        <p:sp>
          <p:nvSpPr>
            <p:cNvPr id="7" name="bg object 16">
              <a:extLst>
                <a:ext uri="{FF2B5EF4-FFF2-40B4-BE49-F238E27FC236}">
                  <a16:creationId xmlns:a16="http://schemas.microsoft.com/office/drawing/2014/main" id="{D134678B-9B39-4B9A-923F-7D6963E2D8FF}"/>
                </a:ext>
              </a:extLst>
            </p:cNvPr>
            <p:cNvSpPr/>
            <p:nvPr/>
          </p:nvSpPr>
          <p:spPr>
            <a:xfrm>
              <a:off x="616199" y="709250"/>
              <a:ext cx="6327775" cy="400050"/>
            </a:xfrm>
            <a:custGeom>
              <a:avLst/>
              <a:gdLst/>
              <a:ahLst/>
              <a:cxnLst/>
              <a:rect l="l" t="t" r="r" b="b"/>
              <a:pathLst>
                <a:path w="6327775" h="400050">
                  <a:moveTo>
                    <a:pt x="6327600" y="400050"/>
                  </a:moveTo>
                  <a:lnTo>
                    <a:pt x="0" y="400050"/>
                  </a:lnTo>
                  <a:lnTo>
                    <a:pt x="0" y="0"/>
                  </a:lnTo>
                  <a:lnTo>
                    <a:pt x="6327600" y="0"/>
                  </a:lnTo>
                  <a:lnTo>
                    <a:pt x="6327600" y="400050"/>
                  </a:lnTo>
                  <a:close/>
                </a:path>
              </a:pathLst>
            </a:custGeom>
            <a:solidFill>
              <a:srgbClr val="EFF4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bg object 17">
              <a:extLst>
                <a:ext uri="{FF2B5EF4-FFF2-40B4-BE49-F238E27FC236}">
                  <a16:creationId xmlns:a16="http://schemas.microsoft.com/office/drawing/2014/main" id="{AA2FAE0B-30B5-4351-872E-1CDE5B00E356}"/>
                </a:ext>
              </a:extLst>
            </p:cNvPr>
            <p:cNvSpPr/>
            <p:nvPr/>
          </p:nvSpPr>
          <p:spPr>
            <a:xfrm>
              <a:off x="616199" y="709250"/>
              <a:ext cx="47625" cy="400050"/>
            </a:xfrm>
            <a:custGeom>
              <a:avLst/>
              <a:gdLst/>
              <a:ahLst/>
              <a:cxnLst/>
              <a:rect l="l" t="t" r="r" b="b"/>
              <a:pathLst>
                <a:path w="47625" h="400050">
                  <a:moveTo>
                    <a:pt x="47625" y="400050"/>
                  </a:moveTo>
                  <a:lnTo>
                    <a:pt x="0" y="400050"/>
                  </a:lnTo>
                  <a:lnTo>
                    <a:pt x="0" y="0"/>
                  </a:lnTo>
                  <a:lnTo>
                    <a:pt x="47625" y="0"/>
                  </a:lnTo>
                  <a:lnTo>
                    <a:pt x="47625" y="400050"/>
                  </a:lnTo>
                  <a:close/>
                </a:path>
              </a:pathLst>
            </a:custGeom>
            <a:solidFill>
              <a:srgbClr val="004B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49E4D70-8BFF-4E9B-AF3E-2746DAA006D5}"/>
                </a:ext>
              </a:extLst>
            </p:cNvPr>
            <p:cNvSpPr txBox="1"/>
            <p:nvPr/>
          </p:nvSpPr>
          <p:spPr>
            <a:xfrm>
              <a:off x="533399" y="739998"/>
              <a:ext cx="631156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55575">
                <a:lnSpc>
                  <a:spcPct val="100000"/>
                </a:lnSpc>
              </a:pPr>
              <a:r>
                <a:rPr lang="en-US" altLang="ko-KR" sz="1600" b="1" spc="50" dirty="0">
                  <a:solidFill>
                    <a:srgbClr val="004B9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Malgun Gothic"/>
                </a:rPr>
                <a:t>7. </a:t>
              </a:r>
              <a:r>
                <a:rPr lang="ko-KR" altLang="en-US" sz="1600" b="1" spc="50" dirty="0">
                  <a:solidFill>
                    <a:srgbClr val="004B9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Malgun Gothic"/>
                </a:rPr>
                <a:t>예외 처리 및 보안 요구사항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14183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488836" y="289999"/>
            <a:ext cx="5441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70" dirty="0">
                <a:solidFill>
                  <a:srgbClr val="878787"/>
                </a:solidFill>
                <a:latin typeface="Malgun Gothic"/>
                <a:cs typeface="Malgun Gothic"/>
              </a:rPr>
              <a:t>페이지</a:t>
            </a:r>
            <a:r>
              <a:rPr sz="800" spc="-5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800" dirty="0">
                <a:solidFill>
                  <a:srgbClr val="878787"/>
                </a:solidFill>
                <a:latin typeface="Malgun Gothic"/>
                <a:cs typeface="Malgun Gothic"/>
              </a:rPr>
              <a:t>5</a:t>
            </a:r>
            <a:r>
              <a:rPr sz="800" spc="-5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800" dirty="0">
                <a:solidFill>
                  <a:srgbClr val="878787"/>
                </a:solidFill>
                <a:latin typeface="Malgun Gothic"/>
                <a:cs typeface="Malgun Gothic"/>
              </a:rPr>
              <a:t>/</a:t>
            </a:r>
            <a:r>
              <a:rPr sz="800" spc="-50" dirty="0">
                <a:solidFill>
                  <a:srgbClr val="878787"/>
                </a:solidFill>
                <a:latin typeface="Malgun Gothic"/>
                <a:cs typeface="Malgun Gothic"/>
              </a:rPr>
              <a:t> 5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B887E828-A8ED-416F-94B9-2A92D20EB2A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27298" y="10252557"/>
            <a:ext cx="2717551" cy="142988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pc="-114" dirty="0"/>
              <a:t>KB</a:t>
            </a:r>
            <a:r>
              <a:rPr spc="-25" dirty="0"/>
              <a:t> </a:t>
            </a:r>
            <a:r>
              <a:rPr lang="en-US" spc="-55" dirty="0"/>
              <a:t>Data System</a:t>
            </a:r>
            <a:r>
              <a:rPr spc="-25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60" dirty="0"/>
              <a:t>Compliance</a:t>
            </a:r>
            <a:r>
              <a:rPr spc="-25" dirty="0"/>
              <a:t> </a:t>
            </a:r>
            <a:r>
              <a:rPr lang="en-US" spc="-25" dirty="0"/>
              <a:t>Agreement</a:t>
            </a:r>
            <a:r>
              <a:rPr spc="-25" dirty="0"/>
              <a:t> </a:t>
            </a:r>
            <a:r>
              <a:rPr spc="-30" dirty="0"/>
              <a:t>Project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B30817E-EF3D-4D28-8F65-4D3889503A49}"/>
              </a:ext>
            </a:extLst>
          </p:cNvPr>
          <p:cNvGrpSpPr/>
          <p:nvPr/>
        </p:nvGrpSpPr>
        <p:grpSpPr>
          <a:xfrm>
            <a:off x="533399" y="666860"/>
            <a:ext cx="6410575" cy="400050"/>
            <a:chOff x="533399" y="709250"/>
            <a:chExt cx="6410575" cy="400050"/>
          </a:xfrm>
        </p:grpSpPr>
        <p:sp>
          <p:nvSpPr>
            <p:cNvPr id="7" name="bg object 16">
              <a:extLst>
                <a:ext uri="{FF2B5EF4-FFF2-40B4-BE49-F238E27FC236}">
                  <a16:creationId xmlns:a16="http://schemas.microsoft.com/office/drawing/2014/main" id="{D134678B-9B39-4B9A-923F-7D6963E2D8FF}"/>
                </a:ext>
              </a:extLst>
            </p:cNvPr>
            <p:cNvSpPr/>
            <p:nvPr/>
          </p:nvSpPr>
          <p:spPr>
            <a:xfrm>
              <a:off x="616199" y="709250"/>
              <a:ext cx="6327775" cy="400050"/>
            </a:xfrm>
            <a:custGeom>
              <a:avLst/>
              <a:gdLst/>
              <a:ahLst/>
              <a:cxnLst/>
              <a:rect l="l" t="t" r="r" b="b"/>
              <a:pathLst>
                <a:path w="6327775" h="400050">
                  <a:moveTo>
                    <a:pt x="6327600" y="400050"/>
                  </a:moveTo>
                  <a:lnTo>
                    <a:pt x="0" y="400050"/>
                  </a:lnTo>
                  <a:lnTo>
                    <a:pt x="0" y="0"/>
                  </a:lnTo>
                  <a:lnTo>
                    <a:pt x="6327600" y="0"/>
                  </a:lnTo>
                  <a:lnTo>
                    <a:pt x="6327600" y="400050"/>
                  </a:lnTo>
                  <a:close/>
                </a:path>
              </a:pathLst>
            </a:custGeom>
            <a:solidFill>
              <a:srgbClr val="EFF4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bg object 17">
              <a:extLst>
                <a:ext uri="{FF2B5EF4-FFF2-40B4-BE49-F238E27FC236}">
                  <a16:creationId xmlns:a16="http://schemas.microsoft.com/office/drawing/2014/main" id="{AA2FAE0B-30B5-4351-872E-1CDE5B00E356}"/>
                </a:ext>
              </a:extLst>
            </p:cNvPr>
            <p:cNvSpPr/>
            <p:nvPr/>
          </p:nvSpPr>
          <p:spPr>
            <a:xfrm>
              <a:off x="616199" y="709250"/>
              <a:ext cx="47625" cy="400050"/>
            </a:xfrm>
            <a:custGeom>
              <a:avLst/>
              <a:gdLst/>
              <a:ahLst/>
              <a:cxnLst/>
              <a:rect l="l" t="t" r="r" b="b"/>
              <a:pathLst>
                <a:path w="47625" h="400050">
                  <a:moveTo>
                    <a:pt x="47625" y="400050"/>
                  </a:moveTo>
                  <a:lnTo>
                    <a:pt x="0" y="400050"/>
                  </a:lnTo>
                  <a:lnTo>
                    <a:pt x="0" y="0"/>
                  </a:lnTo>
                  <a:lnTo>
                    <a:pt x="47625" y="0"/>
                  </a:lnTo>
                  <a:lnTo>
                    <a:pt x="47625" y="400050"/>
                  </a:lnTo>
                  <a:close/>
                </a:path>
              </a:pathLst>
            </a:custGeom>
            <a:solidFill>
              <a:srgbClr val="004B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49E4D70-8BFF-4E9B-AF3E-2746DAA006D5}"/>
                </a:ext>
              </a:extLst>
            </p:cNvPr>
            <p:cNvSpPr txBox="1"/>
            <p:nvPr/>
          </p:nvSpPr>
          <p:spPr>
            <a:xfrm>
              <a:off x="533399" y="739998"/>
              <a:ext cx="631156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55575">
                <a:lnSpc>
                  <a:spcPct val="100000"/>
                </a:lnSpc>
              </a:pPr>
              <a:r>
                <a:rPr lang="en-US" altLang="ko-KR" sz="1600" b="1" spc="50" dirty="0">
                  <a:solidFill>
                    <a:srgbClr val="004B9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Malgun Gothic"/>
                </a:rPr>
                <a:t>8. </a:t>
              </a:r>
              <a:r>
                <a:rPr lang="ko-KR" altLang="en-US" sz="1600" b="1" spc="50" dirty="0">
                  <a:solidFill>
                    <a:srgbClr val="004B9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Malgun Gothic"/>
                </a:rPr>
                <a:t>관리자 화면</a:t>
              </a:r>
              <a:r>
                <a:rPr lang="en-US" altLang="ko-KR" sz="1600" b="1" spc="50" dirty="0">
                  <a:solidFill>
                    <a:srgbClr val="004B9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Malgun Gothic"/>
                </a:rPr>
                <a:t> (</a:t>
              </a:r>
              <a:r>
                <a:rPr lang="ko-KR" altLang="en-US" sz="1600" b="1" spc="50" dirty="0">
                  <a:solidFill>
                    <a:srgbClr val="004B9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Malgun Gothic"/>
                </a:rPr>
                <a:t>임시</a:t>
              </a:r>
              <a:r>
                <a:rPr lang="en-US" altLang="ko-KR" sz="1600" b="1" spc="50" dirty="0">
                  <a:solidFill>
                    <a:srgbClr val="004B9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Malgun Gothic"/>
                </a:rPr>
                <a:t>)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endParaRPr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4D24DCF6-DF9A-4EDE-8AE1-5DBB93F81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199" y="1337944"/>
            <a:ext cx="6327774" cy="40087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800</TotalTime>
  <Words>1162</Words>
  <Application>Microsoft Office PowerPoint</Application>
  <PresentationFormat>사용자 지정</PresentationFormat>
  <Paragraphs>107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5" baseType="lpstr">
      <vt:lpstr>맑은 고딕</vt:lpstr>
      <vt:lpstr>맑은 고딕</vt:lpstr>
      <vt:lpstr>Arial</vt:lpstr>
      <vt:lpstr>Arial Black</vt:lpstr>
      <vt:lpstr>Calibri</vt:lpstr>
      <vt:lpstr>Courier New</vt:lpstr>
      <vt:lpstr>Lucida Sans</vt:lpstr>
      <vt:lpstr>Office Theme</vt:lpstr>
      <vt:lpstr>사내 준법 서약 시스템  구축 프로젝트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사내 준법 서약 시스템 구축 제품 요구사항 정의서 (PRD)</dc:title>
  <cp:lastModifiedBy>KBDS</cp:lastModifiedBy>
  <cp:revision>30</cp:revision>
  <dcterms:created xsi:type="dcterms:W3CDTF">2026-05-07T01:11:56Z</dcterms:created>
  <dcterms:modified xsi:type="dcterms:W3CDTF">2026-05-08T06:04:33Z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2026-05-07T00:00:00Z</vt:filetime>
  </property>
  <property fmtid="{D5CDD505-2E9C-101B-9397-08002B2CF9AE}" pid="3" name="LastSaved">
    <vt:filetime>2026-05-07T00:00:00Z</vt:filetime>
  </property>
  <property fmtid="{D5CDD505-2E9C-101B-9397-08002B2CF9AE}" pid="4" name="Producer">
    <vt:lpwstr>3-Heights(TM) PDF Security Shell 4.8.25.2 (http://www.pdf-tools.com)</vt:lpwstr>
  </property>
</Properties>
</file>